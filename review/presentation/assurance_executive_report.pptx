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READ THIS REPORT</a:t>
            </a:r>
          </a:p>
          <a:p>
            <a:r>
              <a:t>Illustrative synthetic enterprise-assurance data, controls, methodology and policy; not Experian internal data, controls, methodology or policy.</a:t>
            </a:r>
          </a:p>
          <a:p>
            <a:r>
              <a:t>Reporting period: 2026-09</a:t>
            </a:r>
          </a:p>
          <a:p>
            <a:r>
              <a:t>Assurance tests: 9 count. One assurance test per test ID and reporting period. Numerator: all assurance test rows. Denominator/context: not_applicable_count_metric. Count reflects only the trusted assurance population for the selected scope.</a:t>
            </a:r>
          </a:p>
          <a:p>
            <a:r>
              <a:t>High or critical residual risk: 2 count. One assurance test per test ID and reporting period. Numerator: rows where residual_risk is HIGH or CRITICAL. Denominator/context: all assurance test rows. Residual risk is illustrative and only evaluable where the configured evidence basis is sufficient.</a:t>
            </a:r>
          </a:p>
          <a:p>
            <a:r>
              <a:t>Insufficient evidence: 2 count. One assurance test per test ID and reporting period. Numerator: rows where evidence_sufficiency = INSUFFICIENT. Denominator/context: all assurance test rows. Insufficient evidence means the available basis is inadequate for the configured assurance conclusion.</a:t>
            </a:r>
          </a:p>
          <a:p>
            <a:r>
              <a:t>Not evaluable evidence: 1 count. One assurance test per test ID and reporting period. Numerator: rows where evidence_sufficiency = NOT_EVALUABLE. Denominator/context: all assurance test rows. NOT_EVALUABLE must remain distinct from failure and must not be interpreted as ineffective control performance.</a:t>
            </a:r>
          </a:p>
          <a:p>
            <a:r>
              <a:t>Not evaluable residual risk: 4 count. One assurance test per test ID and reporting period. Numerator: rows where residual_risk = NOT_EVALUABLE. Denominator/context: all assurance test rows. NOT_EVALUABLE represents insufficient decision basis and must not be converted into an assumed risk rating.</a:t>
            </a:r>
          </a:p>
          <a:p>
            <a:r>
              <a:t>Open findings: 4 count. One finding per finding ID. Numerator: rows where status is OPEN or IN_PROGRESS. Denominator/context: all trusted finding rows. This metric reflects finding workflow status only and does not measure severity or remediation effectiveness.</a:t>
            </a:r>
          </a:p>
          <a:p>
            <a:r>
              <a:t>Overdue actions: 1 count. One management action per action ID. Numerator: rows where overdue = true. Denominator/context: all trusted remediation action rows. Overdue status follows the configured as-of date, open-status vocabulary, and target-date rule.</a:t>
            </a:r>
          </a:p>
          <a:p>
            <a:r>
              <a:t>Partial evidence: 1 count. One assurance test per test ID and reporting period. Numerator: rows where evidence_sufficiency = PARTIAL. Denominator/context: all assurance test rows. Partial evidence reflects configured coverage and evidence rules, not a control-failure conclusion.</a:t>
            </a:r>
          </a:p>
          <a:p>
            <a:r>
              <a:t>Repeat findings: 1 count. One finding per finding ID. Numerator: rows where repeat_finding = true. Denominator/context: all trusted finding rows. Repeat classification uses the configured stable recurrence key and chronology requirements; fuzzy title matching is not used.</a:t>
            </a:r>
          </a:p>
          <a:p>
            <a:r>
              <a:t>Stale evidence: 2 count. One assurance test per test ID and reporting period. Numerator: rows where freshness_state = STALE. Denominator/context: all assurance test rows. Staleness is determined from the configured as-of date and evidence-freshness rule.</a:t>
            </a:r>
          </a:p>
          <a:p>
            <a:r>
              <a:t>Sufficient evidence: 5 count. One assurance test per test ID and reporting period. Numerator: rows where evidence_sufficiency = SUFFICIENT. Denominator/context: all assurance test rows. Sufficiency follows the configured synthetic assurance methodology and does not imply control effectiveness.</a:t>
            </a:r>
          </a:p>
          <a:p>
            <a:r>
              <a:t>Unmapped tests: 1 count. One assurance test per test ID and reporting period. Numerator: rows where identity_status = UNMAPPED. Denominator/context: all assurance test rows. Unmapped tests are retained explicitly and must not be assigned unsupported enterprise context.</a:t>
            </a:r>
          </a:p>
          <a:p>
            <a:r>
              <a:t>STATE MEANINGS</a:t>
            </a:r>
          </a:p>
          <a:p>
            <a:r>
              <a:t>INSUFFICIENT: After reconciliation and mapping checks, stale evidence or zero tested population prevents a sufficient assurance basis.</a:t>
            </a:r>
          </a:p>
          <a:p>
            <a:r>
              <a:t>NOT_APPLICABLE: The relevant field does not apply; retain it distinctly from missing, untested or not-evaluable evidence.</a:t>
            </a:r>
          </a:p>
          <a:p>
            <a:r>
              <a:t>NOT_EVALUABLE: The relevant evaluation lacks a valid basis: failed reconciliation, unresolved identity, future evidence or missing expected population can prevent evidence evaluation; insufficient assurance basis or missing inherent risk prevents residual-risk evaluation.</a:t>
            </a:r>
          </a:p>
          <a:p>
            <a:r>
              <a:t>NOT_TESTED: Mapped source records were not evaluated; retain them in population reconciliation.</a:t>
            </a:r>
          </a:p>
          <a:p>
            <a:r>
              <a:t>PARTIAL: Reconciliation passes, identity is mapped and evidence is current, with nonzero testing below full expected coverage; this is not automatically a failed control.</a:t>
            </a:r>
          </a:p>
          <a:p>
            <a:r>
              <a:t>STALE: Evidence is older than 90 days old at the governed as-of date. Freshness overlaps evidence-sufficiency states; future evidence is NOT_EVALUABLE.</a:t>
            </a:r>
          </a:p>
          <a:p>
            <a:r>
              <a:t>SUFFICIENT: Reconciliation passes, identity is mapped, evidence is current and tested population meets configured full coverage; evidence adequacy does not imply control effectiveness.</a:t>
            </a:r>
          </a:p>
          <a:p>
            <a:r>
              <a:t>UNMAPPED: No resolved enterprise identity. Retain the test and its source records explicitly.</a:t>
            </a:r>
          </a:p>
          <a:p>
            <a:r>
              <a:t>partial_coverage: Partial coverage can coexist with an observed EFFECTIVE result. It does not establish full evidence sufficiency or permit a residual-risk conclusion under the configured prerequisites.</a:t>
            </a:r>
          </a:p>
          <a:p>
            <a:r>
              <a:t>residual_risk: A residual-risk conclusion requires SUFFICIENT evidence and the configured inherent-risk/control-effectiveness matrix.</a:t>
            </a:r>
          </a:p>
          <a:p>
            <a:r>
              <a:t>IMPLEMENTATION CHOICES</a:t>
            </a:r>
          </a:p>
          <a:p>
            <a:r>
              <a:t>DuckDB: Independent SQL checks against the governed Python results.</a:t>
            </a:r>
          </a:p>
          <a:p>
            <a:r>
              <a:t>HTML / Plotly: Portable interactive exploration with embedded chart code.</a:t>
            </a:r>
          </a:p>
          <a:p>
            <a:r>
              <a:t>PowerPoint: An executive narrative and navigation layer.</a:t>
            </a:r>
          </a:p>
          <a:p>
            <a:r>
              <a:t>Python / Pandas: Readable deterministic processing and typed analytical tables.</a:t>
            </a:r>
          </a:p>
          <a:p>
            <a:r>
              <a:t>Tableau: A packaged BI workbook over the same governed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1.xml"/><Relationship Id="rId11" Type="http://schemas.openxmlformats.org/officeDocument/2006/relationships/hyperlink" Target="../html/assurance_dashboard.html" TargetMode="External"/><Relationship Id="rId12" Type="http://schemas.openxmlformats.org/officeDocument/2006/relationships/hyperlink" Target="../tableau/assurance_dashboard.twb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2.xml"/><Relationship Id="rId11" Type="http://schemas.openxmlformats.org/officeDocument/2006/relationships/hyperlink" Target="../html/reports/executive_assurance.html" TargetMode="External"/><Relationship Id="rId12" Type="http://schemas.openxmlformats.org/officeDocument/2006/relationships/hyperlink" Target="../html/charts/evidence_sufficiency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3.xml"/><Relationship Id="rId11" Type="http://schemas.openxmlformats.org/officeDocument/2006/relationships/hyperlink" Target="../html/reports/risk_and_evidence.html" TargetMode="External"/><Relationship Id="rId12" Type="http://schemas.openxmlformats.org/officeDocument/2006/relationships/hyperlink" Target="../html/charts/residual_risk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4.xml"/><Relationship Id="rId11" Type="http://schemas.openxmlformats.org/officeDocument/2006/relationships/hyperlink" Target="../html/reports/findings_and_actions.html" TargetMode="External"/><Relationship Id="rId12" Type="http://schemas.openxmlformats.org/officeDocument/2006/relationships/hyperlink" Target="../html/charts/remediation_actions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5.xml"/><Relationship Id="rId11" Type="http://schemas.openxmlformats.org/officeDocument/2006/relationships/hyperlink" Target="../html/reports/data_trust.html" TargetMode="External"/><Relationship Id="rId12" Type="http://schemas.openxmlformats.org/officeDocument/2006/relationships/hyperlink" Target="../html/charts/freshness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6.xml"/><Relationship Id="rId11" Type="http://schemas.openxmlformats.org/officeDocument/2006/relationships/hyperlink" Target="../html/reports/data_trust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hyperlink" Target="../html/assurance_dashboard.html" TargetMode="External"/><Relationship Id="rId11" Type="http://schemas.openxmlformats.org/officeDocument/2006/relationships/hyperlink" Target="../tableau/assurance_dashboard.twbx" TargetMode="External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Relationship Id="rId8" Type="http://schemas.openxmlformats.org/officeDocument/2006/relationships/slide" Target="slide7.xml"/><Relationship Id="rId9" Type="http://schemas.openxmlformats.org/officeDocument/2006/relationships/slide" Target="slide8.xml"/><Relationship Id="rId10" Type="http://schemas.openxmlformats.org/officeDocument/2006/relationships/notesSlide" Target="../notesSlides/notesSlide8.xml"/><Relationship Id="rId11" Type="http://schemas.openxmlformats.org/officeDocument/2006/relationships/hyperlink" Target="../html/assurance_dashboard.html" TargetMode="External"/><Relationship Id="rId12" Type="http://schemas.openxmlformats.org/officeDocument/2006/relationships/hyperlink" Target="../tableau/assurance_dashboard.twb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Executive Assurance Snapshot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Executive Assurance Snapshot</a:t>
            </a:r>
          </a:p>
        </p:txBody>
      </p:sp>
      <p:sp>
        <p:nvSpPr>
          <p:cNvPr id="3" name="TextBox 2" descr="Decision-ready view of the current validated assurance position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Decision-ready view of the current validated assurance 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01/08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CURRENT POSITION"/>
          <p:cNvSpPr txBox="1"/>
          <p:nvPr/>
        </p:nvSpPr>
        <p:spPr>
          <a:xfrm>
            <a:off x="658368" y="1664208"/>
            <a:ext cx="192024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CURRENT POSITION</a:t>
            </a:r>
          </a:p>
        </p:txBody>
      </p:sp>
      <p:sp>
        <p:nvSpPr>
          <p:cNvPr id="17" name="TextBox 16" descr="Three signals matter most"/>
          <p:cNvSpPr txBox="1"/>
          <p:nvPr/>
        </p:nvSpPr>
        <p:spPr>
          <a:xfrm>
            <a:off x="658368" y="1920240"/>
            <a:ext cx="4297680" cy="3474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800" b="1">
                <a:solidFill>
                  <a:srgbClr val="142A4A"/>
                </a:solidFill>
                <a:latin typeface="Arial"/>
              </a:rPr>
              <a:t>Three signals matter most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395728"/>
            <a:ext cx="3383280" cy="153619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252374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EVIDENCE</a:t>
            </a:r>
          </a:p>
        </p:txBody>
      </p:sp>
      <p:sp>
        <p:nvSpPr>
          <p:cNvPr id="20" name="TextBox 19" descr="Coverage is usable but incomplete"/>
          <p:cNvSpPr txBox="1"/>
          <p:nvPr/>
        </p:nvSpPr>
        <p:spPr>
          <a:xfrm>
            <a:off x="804672" y="2871216"/>
            <a:ext cx="3090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Coverage is usable but incomplete</a:t>
            </a:r>
          </a:p>
        </p:txBody>
      </p:sp>
      <p:sp>
        <p:nvSpPr>
          <p:cNvPr id="21" name="TextBox 20" descr="5 of 9 tests have sufficient evidence. 2 rely on stale evidence and 1 remain not evaluable for evidence sufficiency."/>
          <p:cNvSpPr txBox="1"/>
          <p:nvPr/>
        </p:nvSpPr>
        <p:spPr>
          <a:xfrm>
            <a:off x="804672" y="3236976"/>
            <a:ext cx="3090672" cy="58521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5 of 9 tests have sufficient evidence. 2 rely on stale evidence and 1 remain not evaluable for evidence sufficiency.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672" y="2395728"/>
            <a:ext cx="3383280" cy="153619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79976" y="252374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RISK</a:t>
            </a:r>
          </a:p>
        </p:txBody>
      </p:sp>
      <p:sp>
        <p:nvSpPr>
          <p:cNvPr id="24" name="TextBox 23" descr="Residual-risk visibility is constrained"/>
          <p:cNvSpPr txBox="1"/>
          <p:nvPr/>
        </p:nvSpPr>
        <p:spPr>
          <a:xfrm>
            <a:off x="4379976" y="2871216"/>
            <a:ext cx="3090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Residual-risk visibility is constrained</a:t>
            </a:r>
          </a:p>
        </p:txBody>
      </p:sp>
      <p:sp>
        <p:nvSpPr>
          <p:cNvPr id="25" name="TextBox 24" descr="2 tests are high/critical residual risk while 4 cannot yet support a residual-risk conclusion from the available evidence."/>
          <p:cNvSpPr txBox="1"/>
          <p:nvPr/>
        </p:nvSpPr>
        <p:spPr>
          <a:xfrm>
            <a:off x="4379976" y="3236976"/>
            <a:ext cx="3090672" cy="58521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2 tests are high/critical residual risk while 4 cannot yet support a residual-risk conclusion from the available evidence.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08975" y="2395728"/>
            <a:ext cx="3383280" cy="153619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55279" y="252374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ACTION</a:t>
            </a:r>
          </a:p>
        </p:txBody>
      </p:sp>
      <p:sp>
        <p:nvSpPr>
          <p:cNvPr id="28" name="TextBox 27" descr="Follow-up is concentrated"/>
          <p:cNvSpPr txBox="1"/>
          <p:nvPr/>
        </p:nvSpPr>
        <p:spPr>
          <a:xfrm>
            <a:off x="7955279" y="2871216"/>
            <a:ext cx="3090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Follow-up is concentrated</a:t>
            </a:r>
          </a:p>
        </p:txBody>
      </p:sp>
      <p:sp>
        <p:nvSpPr>
          <p:cNvPr id="29" name="TextBox 28" descr="The current population contains 4 open findings, 1 repeat finding and 1 overdue action, enabling targeted rather than broad remediation focus."/>
          <p:cNvSpPr txBox="1"/>
          <p:nvPr/>
        </p:nvSpPr>
        <p:spPr>
          <a:xfrm>
            <a:off x="7955279" y="3236976"/>
            <a:ext cx="3090672" cy="58521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The current population contains 4 open findings, 1 repeat finding and 1 overdue action, enabling targeted rather than broad remediation focus.</a:t>
            </a:r>
          </a:p>
        </p:txBody>
      </p:sp>
      <p:sp>
        <p:nvSpPr>
          <p:cNvPr id="30" name="TextBox 29" descr="CLICK A KPI TO DRILL INTO THE RELEVANT SECTION"/>
          <p:cNvSpPr txBox="1"/>
          <p:nvPr/>
        </p:nvSpPr>
        <p:spPr>
          <a:xfrm>
            <a:off x="658368" y="4224528"/>
            <a:ext cx="512064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30" b="1">
                <a:solidFill>
                  <a:srgbClr val="5C6C82"/>
                </a:solidFill>
                <a:latin typeface="Arial"/>
              </a:rPr>
              <a:t>CLICK A KPI TO DRILL INTO THE RELEVANT SECTION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658368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4553712"/>
            <a:ext cx="50292" cy="932688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etric:assurance_tests" descr="Assurance tests: 9"/>
          <p:cNvSpPr txBox="1"/>
          <p:nvPr/>
        </p:nvSpPr>
        <p:spPr>
          <a:xfrm>
            <a:off x="822959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9</a:t>
            </a:r>
          </a:p>
        </p:txBody>
      </p:sp>
      <p:sp>
        <p:nvSpPr>
          <p:cNvPr id="34" name="TextBox 33" descr="Assurance tests"/>
          <p:cNvSpPr txBox="1"/>
          <p:nvPr/>
        </p:nvSpPr>
        <p:spPr>
          <a:xfrm>
            <a:off x="822959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Assurance tests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2450591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450591" y="4553712"/>
            <a:ext cx="50292" cy="932688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metric:sufficient_evidence" descr="Sufficient evidence: 5"/>
          <p:cNvSpPr txBox="1"/>
          <p:nvPr/>
        </p:nvSpPr>
        <p:spPr>
          <a:xfrm>
            <a:off x="2615184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5</a:t>
            </a:r>
          </a:p>
        </p:txBody>
      </p:sp>
      <p:sp>
        <p:nvSpPr>
          <p:cNvPr id="38" name="TextBox 37" descr="Sufficient evidence"/>
          <p:cNvSpPr txBox="1"/>
          <p:nvPr/>
        </p:nvSpPr>
        <p:spPr>
          <a:xfrm>
            <a:off x="2615184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Sufficient evidence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4242816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242816" y="4553712"/>
            <a:ext cx="50292" cy="93268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etric:stale_evidence" descr="Stale evidence: 2"/>
          <p:cNvSpPr txBox="1"/>
          <p:nvPr/>
        </p:nvSpPr>
        <p:spPr>
          <a:xfrm>
            <a:off x="4407407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42" name="TextBox 41" descr="Stale evidence"/>
          <p:cNvSpPr txBox="1"/>
          <p:nvPr/>
        </p:nvSpPr>
        <p:spPr>
          <a:xfrm>
            <a:off x="4407407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Stale evidence</a:t>
            </a:r>
          </a:p>
        </p:txBody>
      </p:sp>
      <p:sp>
        <p:nvSpPr>
          <p:cNvPr id="43" name="Rounded Rectangle 42">
            <a:hlinkClick action="ppaction://hlinksldjump" r:id="rId4"/>
          </p:cNvPr>
          <p:cNvSpPr/>
          <p:nvPr/>
        </p:nvSpPr>
        <p:spPr>
          <a:xfrm>
            <a:off x="6035040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35040" y="4553712"/>
            <a:ext cx="50292" cy="932688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etric:high_or_critical_residual_risk" descr="High / critical risk: 2"/>
          <p:cNvSpPr txBox="1"/>
          <p:nvPr/>
        </p:nvSpPr>
        <p:spPr>
          <a:xfrm>
            <a:off x="6199631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46" name="TextBox 45" descr="High / critical risk"/>
          <p:cNvSpPr txBox="1"/>
          <p:nvPr/>
        </p:nvSpPr>
        <p:spPr>
          <a:xfrm>
            <a:off x="6199631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High / critical risk</a:t>
            </a:r>
          </a:p>
        </p:txBody>
      </p:sp>
      <p:sp>
        <p:nvSpPr>
          <p:cNvPr id="47" name="Rounded Rectangle 46">
            <a:hlinkClick action="ppaction://hlinksldjump" r:id="rId5"/>
          </p:cNvPr>
          <p:cNvSpPr/>
          <p:nvPr/>
        </p:nvSpPr>
        <p:spPr>
          <a:xfrm>
            <a:off x="7827264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827264" y="4553712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etric:open_findings" descr="Open findings: 4"/>
          <p:cNvSpPr txBox="1"/>
          <p:nvPr/>
        </p:nvSpPr>
        <p:spPr>
          <a:xfrm>
            <a:off x="7991856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4</a:t>
            </a:r>
          </a:p>
        </p:txBody>
      </p:sp>
      <p:sp>
        <p:nvSpPr>
          <p:cNvPr id="50" name="TextBox 49" descr="Open findings"/>
          <p:cNvSpPr txBox="1"/>
          <p:nvPr/>
        </p:nvSpPr>
        <p:spPr>
          <a:xfrm>
            <a:off x="7991856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Open findings</a:t>
            </a:r>
          </a:p>
        </p:txBody>
      </p:sp>
      <p:sp>
        <p:nvSpPr>
          <p:cNvPr id="51" name="Rounded Rectangle 50">
            <a:hlinkClick action="ppaction://hlinksldjump" r:id="rId5"/>
          </p:cNvPr>
          <p:cNvSpPr/>
          <p:nvPr/>
        </p:nvSpPr>
        <p:spPr>
          <a:xfrm>
            <a:off x="9619488" y="4553712"/>
            <a:ext cx="1627632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19488" y="4553712"/>
            <a:ext cx="50292" cy="932688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metric:overdue_actions" descr="Overdue actions: 1"/>
          <p:cNvSpPr txBox="1"/>
          <p:nvPr/>
        </p:nvSpPr>
        <p:spPr>
          <a:xfrm>
            <a:off x="9784080" y="4663440"/>
            <a:ext cx="1335024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54" name="TextBox 53" descr="Overdue actions"/>
          <p:cNvSpPr txBox="1"/>
          <p:nvPr/>
        </p:nvSpPr>
        <p:spPr>
          <a:xfrm>
            <a:off x="9784080" y="5102352"/>
            <a:ext cx="1335024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Overdue actions</a:t>
            </a:r>
          </a:p>
        </p:txBody>
      </p:sp>
      <p:sp>
        <p:nvSpPr>
          <p:cNvPr id="55" name="TextBox 54" descr="Illustrative synthetic data and methodology; not Experian internal."/>
          <p:cNvSpPr txBox="1"/>
          <p:nvPr/>
        </p:nvSpPr>
        <p:spPr>
          <a:xfrm>
            <a:off x="658368" y="5879592"/>
            <a:ext cx="1054303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Illustrative synthetic data and methodology; not Experian internal.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>
            <a:hlinkClick action="ppaction://hlinksldjump" r:id="rId2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58" name="Rounded Rectangle 57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59" name="Rounded Rectangle 58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61" name="Rounded Rectangle 60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HTML dashboard</a:t>
            </a:r>
          </a:p>
        </p:txBody>
      </p:sp>
      <p:sp>
        <p:nvSpPr>
          <p:cNvPr id="62" name="Rounded Rectangle 61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Tableau</a:t>
            </a:r>
          </a:p>
        </p:txBody>
      </p:sp>
      <p:sp>
        <p:nvSpPr>
          <p:cNvPr id="63" name="TextBox 62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Evidence Quality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Evidence Quality</a:t>
            </a:r>
          </a:p>
        </p:txBody>
      </p:sp>
      <p:sp>
        <p:nvSpPr>
          <p:cNvPr id="3" name="TextBox 2" descr="How much of the assurance conclusion is supported by usable, current evidence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How much of the assurance conclusion is supported by usable, current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02/08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EVIDENCE SUFFICIENCY"/>
          <p:cNvSpPr txBox="1"/>
          <p:nvPr/>
        </p:nvSpPr>
        <p:spPr>
          <a:xfrm>
            <a:off x="658368" y="1664208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EVIDENCE SUFFICIENCY</a:t>
            </a:r>
          </a:p>
        </p:txBody>
      </p:sp>
      <p:sp>
        <p:nvSpPr>
          <p:cNvPr id="17" name="TextBox 16" descr="5/9 tests currently have sufficient evidence"/>
          <p:cNvSpPr txBox="1"/>
          <p:nvPr/>
        </p:nvSpPr>
        <p:spPr>
          <a:xfrm>
            <a:off x="658368" y="1938528"/>
            <a:ext cx="539496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700" b="1">
                <a:solidFill>
                  <a:srgbClr val="142A4A"/>
                </a:solidFill>
                <a:latin typeface="Arial"/>
              </a:rPr>
              <a:t>5/9 tests currently have sufficient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23160"/>
            <a:ext cx="3683000" cy="384048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 descr="5"/>
          <p:cNvSpPr txBox="1"/>
          <p:nvPr/>
        </p:nvSpPr>
        <p:spPr>
          <a:xfrm>
            <a:off x="658368" y="2487168"/>
            <a:ext cx="3683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1368" y="2423160"/>
            <a:ext cx="736600" cy="38404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 descr="1"/>
          <p:cNvSpPr txBox="1"/>
          <p:nvPr/>
        </p:nvSpPr>
        <p:spPr>
          <a:xfrm>
            <a:off x="4341368" y="2487168"/>
            <a:ext cx="7366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7967" y="2423160"/>
            <a:ext cx="1473200" cy="384048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 descr="2"/>
          <p:cNvSpPr txBox="1"/>
          <p:nvPr/>
        </p:nvSpPr>
        <p:spPr>
          <a:xfrm>
            <a:off x="5077967" y="2487168"/>
            <a:ext cx="14732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1167" y="2423160"/>
            <a:ext cx="736600" cy="384048"/>
          </a:xfrm>
          <a:prstGeom prst="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 descr="1"/>
          <p:cNvSpPr txBox="1"/>
          <p:nvPr/>
        </p:nvSpPr>
        <p:spPr>
          <a:xfrm>
            <a:off x="6551167" y="2487168"/>
            <a:ext cx="7366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2953512"/>
            <a:ext cx="91440" cy="91440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Sufficient 5"/>
          <p:cNvSpPr txBox="1"/>
          <p:nvPr/>
        </p:nvSpPr>
        <p:spPr>
          <a:xfrm>
            <a:off x="79552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Sufficient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75688" y="2953512"/>
            <a:ext cx="91440" cy="91440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 descr="Partial 1"/>
          <p:cNvSpPr txBox="1"/>
          <p:nvPr/>
        </p:nvSpPr>
        <p:spPr>
          <a:xfrm>
            <a:off x="221284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Partial 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2953512"/>
            <a:ext cx="91440" cy="91440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 descr="Insufficient 2"/>
          <p:cNvSpPr txBox="1"/>
          <p:nvPr/>
        </p:nvSpPr>
        <p:spPr>
          <a:xfrm>
            <a:off x="363016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Insufficient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10328" y="2953512"/>
            <a:ext cx="91440" cy="91440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 descr="Not evaluable 1"/>
          <p:cNvSpPr txBox="1"/>
          <p:nvPr/>
        </p:nvSpPr>
        <p:spPr>
          <a:xfrm>
            <a:off x="5047488" y="2898648"/>
            <a:ext cx="128016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20" b="0">
                <a:solidFill>
                  <a:srgbClr val="5C6C82"/>
                </a:solidFill>
                <a:latin typeface="Arial"/>
              </a:rPr>
              <a:t>Not evaluable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1755648"/>
            <a:ext cx="3566160" cy="1737360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81544" y="1883664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INTERPRETATION</a:t>
            </a:r>
          </a:p>
        </p:txBody>
      </p:sp>
      <p:sp>
        <p:nvSpPr>
          <p:cNvPr id="36" name="TextBox 35" descr="Evidence quality is the limiting factor"/>
          <p:cNvSpPr txBox="1"/>
          <p:nvPr/>
        </p:nvSpPr>
        <p:spPr>
          <a:xfrm>
            <a:off x="7781544" y="2231136"/>
            <a:ext cx="327355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Evidence quality is the limiting factor</a:t>
            </a:r>
          </a:p>
        </p:txBody>
      </p:sp>
      <p:sp>
        <p:nvSpPr>
          <p:cNvPr id="37" name="TextBox 36" descr="The main constraint is not test volume. Stale, insufficient and not-evaluable evidence weakens the confidence of downstream control and residual-risk conclusions."/>
          <p:cNvSpPr txBox="1"/>
          <p:nvPr/>
        </p:nvSpPr>
        <p:spPr>
          <a:xfrm>
            <a:off x="7781544" y="2596896"/>
            <a:ext cx="3273552" cy="786383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The main constraint is not test volume. Stale, insufficient and not-evaluable evidence weakens the confidence of downstream control and residual-risk conclusions.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5240" y="3685032"/>
            <a:ext cx="1664208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35240" y="3685032"/>
            <a:ext cx="50292" cy="93268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etric:stale_evidence" descr="Tests using stale evidence: 2"/>
          <p:cNvSpPr txBox="1"/>
          <p:nvPr/>
        </p:nvSpPr>
        <p:spPr>
          <a:xfrm>
            <a:off x="7799831" y="3794760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41" name="TextBox 40" descr="Tests using stale evidence"/>
          <p:cNvSpPr txBox="1"/>
          <p:nvPr/>
        </p:nvSpPr>
        <p:spPr>
          <a:xfrm>
            <a:off x="7799831" y="4233672"/>
            <a:ext cx="137160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Tests using stale evidence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73184" y="3685032"/>
            <a:ext cx="1728216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473184" y="3685032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etric:not_evaluable_evidence" descr="Evidence not evaluable: 1"/>
          <p:cNvSpPr txBox="1"/>
          <p:nvPr/>
        </p:nvSpPr>
        <p:spPr>
          <a:xfrm>
            <a:off x="9637776" y="3794760"/>
            <a:ext cx="1435607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45" name="TextBox 44" descr="Evidence not evaluable"/>
          <p:cNvSpPr txBox="1"/>
          <p:nvPr/>
        </p:nvSpPr>
        <p:spPr>
          <a:xfrm>
            <a:off x="9637776" y="4233672"/>
            <a:ext cx="1435607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Evidence not evaluable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187952"/>
            <a:ext cx="662940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4672" y="4315968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NEXT MOVE</a:t>
            </a:r>
          </a:p>
        </p:txBody>
      </p:sp>
      <p:sp>
        <p:nvSpPr>
          <p:cNvPr id="48" name="TextBox 47" descr="Repair evidence before broad retesting"/>
          <p:cNvSpPr txBox="1"/>
          <p:nvPr/>
        </p:nvSpPr>
        <p:spPr>
          <a:xfrm>
            <a:off x="804672" y="4663440"/>
            <a:ext cx="6336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Repair evidence before broad retesting</a:t>
            </a:r>
          </a:p>
        </p:txBody>
      </p:sp>
      <p:sp>
        <p:nvSpPr>
          <p:cNvPr id="49" name="TextBox 48" descr="Refreshing stale evidence and resolving not-evaluable cases should improve both assurance confidence and the interpretability of residual risk without unnecessarily expanding scope."/>
          <p:cNvSpPr txBox="1"/>
          <p:nvPr/>
        </p:nvSpPr>
        <p:spPr>
          <a:xfrm>
            <a:off x="804672" y="5029200"/>
            <a:ext cx="6336792" cy="31089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Refreshing stale evidence and resolving not-evaluable cases should improve both assurance confidence and the interpretability of residual risk without unnecessarily expanding scope.</a:t>
            </a:r>
          </a:p>
        </p:txBody>
      </p:sp>
      <p:sp>
        <p:nvSpPr>
          <p:cNvPr id="50" name="Rounded Rectangle 49">
            <a:hlinkClick action="ppaction://hlinksldjump" r:id="rId4"/>
          </p:cNvPr>
          <p:cNvSpPr/>
          <p:nvPr/>
        </p:nvSpPr>
        <p:spPr>
          <a:xfrm>
            <a:off x="7635240" y="4892040"/>
            <a:ext cx="3566160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Jump to risk implications ›</a:t>
            </a:r>
          </a:p>
        </p:txBody>
      </p:sp>
      <p:sp>
        <p:nvSpPr>
          <p:cNvPr id="51" name="TextBox 50" descr="How to read this: counts are tests; freshness overlaps sufficiency. Full definitions are in Notes and HTML Data &amp; Metrics."/>
          <p:cNvSpPr txBox="1"/>
          <p:nvPr/>
        </p:nvSpPr>
        <p:spPr>
          <a:xfrm>
            <a:off x="658368" y="5925312"/>
            <a:ext cx="1054303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How to read this: counts are tests; freshness overlaps sufficiency. Full definitions are in Notes and HTML Data &amp; Metrics.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>
            <a:hlinkClick action="ppaction://hlinksldjump" r:id="rId2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54" name="Rounded Rectangle 53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55" name="Rounded Rectangle 54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56" name="Rounded Rectangle 55">
            <a:hlinkClick action="ppaction://hlinksldjump" r:id="rId4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7" name="Rounded Rectangle 56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Evidence report</a:t>
            </a:r>
          </a:p>
        </p:txBody>
      </p:sp>
      <p:sp>
        <p:nvSpPr>
          <p:cNvPr id="58" name="Rounded Rectangle 57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Evidence chart</a:t>
            </a:r>
          </a:p>
        </p:txBody>
      </p:sp>
      <p:sp>
        <p:nvSpPr>
          <p:cNvPr id="59" name="TextBox 58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Risk &amp; Control Position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Risk &amp; Control Position</a:t>
            </a:r>
          </a:p>
        </p:txBody>
      </p:sp>
      <p:sp>
        <p:nvSpPr>
          <p:cNvPr id="3" name="TextBox 2" descr="Where risk pressure and evidence limitations concentrate by domain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Where risk pressure and evidence limitations concentrate by domain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03/08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DOMAIN PROFILE"/>
          <p:cNvSpPr txBox="1"/>
          <p:nvPr/>
        </p:nvSpPr>
        <p:spPr>
          <a:xfrm>
            <a:off x="658368" y="1664208"/>
            <a:ext cx="1828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DOMAIN PROFILE</a:t>
            </a:r>
          </a:p>
        </p:txBody>
      </p:sp>
      <p:sp>
        <p:nvSpPr>
          <p:cNvPr id="17" name="TextBox 16" descr="Assurance volume and pressure by risk domain"/>
          <p:cNvSpPr txBox="1"/>
          <p:nvPr/>
        </p:nvSpPr>
        <p:spPr>
          <a:xfrm>
            <a:off x="658368" y="1920240"/>
            <a:ext cx="53035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700" b="1">
                <a:solidFill>
                  <a:srgbClr val="142A4A"/>
                </a:solidFill>
                <a:latin typeface="Arial"/>
              </a:rPr>
              <a:t>Assurance volume and pressure by risk domain</a:t>
            </a:r>
          </a:p>
        </p:txBody>
      </p:sp>
      <p:sp>
        <p:nvSpPr>
          <p:cNvPr id="18" name="TextBox 17" descr="Access Management"/>
          <p:cNvSpPr txBox="1"/>
          <p:nvPr/>
        </p:nvSpPr>
        <p:spPr>
          <a:xfrm>
            <a:off x="658368" y="2468880"/>
            <a:ext cx="17830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19" b="0">
                <a:solidFill>
                  <a:srgbClr val="192334"/>
                </a:solidFill>
                <a:latin typeface="Arial"/>
              </a:rPr>
              <a:t>Access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32887" y="2496312"/>
            <a:ext cx="2926080" cy="128016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32887" y="2496312"/>
            <a:ext cx="2926080" cy="12801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32120" y="2432304"/>
            <a:ext cx="329184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6</a:t>
            </a:r>
          </a:p>
        </p:txBody>
      </p:sp>
      <p:sp>
        <p:nvSpPr>
          <p:cNvPr id="22" name="TextBox 21" descr="Change &amp; Integration"/>
          <p:cNvSpPr txBox="1"/>
          <p:nvPr/>
        </p:nvSpPr>
        <p:spPr>
          <a:xfrm>
            <a:off x="658368" y="2907792"/>
            <a:ext cx="17830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19" b="0">
                <a:solidFill>
                  <a:srgbClr val="192334"/>
                </a:solidFill>
                <a:latin typeface="Arial"/>
              </a:rPr>
              <a:t>Change &amp; Integration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32887" y="2935224"/>
            <a:ext cx="2926080" cy="128016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532887" y="2935224"/>
            <a:ext cx="975360" cy="12801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532120" y="2871216"/>
            <a:ext cx="329184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2</a:t>
            </a:r>
          </a:p>
        </p:txBody>
      </p:sp>
      <p:sp>
        <p:nvSpPr>
          <p:cNvPr id="26" name="TextBox 25" descr="Third Party"/>
          <p:cNvSpPr txBox="1"/>
          <p:nvPr/>
        </p:nvSpPr>
        <p:spPr>
          <a:xfrm>
            <a:off x="658368" y="3346704"/>
            <a:ext cx="17830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19" b="0">
                <a:solidFill>
                  <a:srgbClr val="192334"/>
                </a:solidFill>
                <a:latin typeface="Arial"/>
              </a:rPr>
              <a:t>Third Party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32887" y="3374136"/>
            <a:ext cx="2926080" cy="128016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532887" y="3374136"/>
            <a:ext cx="487680" cy="12801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532120" y="3310128"/>
            <a:ext cx="329184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30" name="TextBox 29" descr="DOMAIN SIGNAL MATRIX"/>
          <p:cNvSpPr txBox="1"/>
          <p:nvPr/>
        </p:nvSpPr>
        <p:spPr>
          <a:xfrm>
            <a:off x="6309360" y="1929384"/>
            <a:ext cx="420624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DOMAIN SIGNAL MATRIX</a:t>
            </a:r>
          </a:p>
        </p:txBody>
      </p:sp>
      <p:sp>
        <p:nvSpPr>
          <p:cNvPr id="31" name="TextBox 30" descr="Domain"/>
          <p:cNvSpPr txBox="1"/>
          <p:nvPr/>
        </p:nvSpPr>
        <p:spPr>
          <a:xfrm>
            <a:off x="6309360" y="2240279"/>
            <a:ext cx="214884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00" b="1">
                <a:solidFill>
                  <a:srgbClr val="5C6C82"/>
                </a:solidFill>
                <a:latin typeface="Arial"/>
              </a:rPr>
              <a:t>Domain</a:t>
            </a:r>
          </a:p>
        </p:txBody>
      </p:sp>
      <p:sp>
        <p:nvSpPr>
          <p:cNvPr id="32" name="TextBox 31" descr="Evidence"/>
          <p:cNvSpPr txBox="1"/>
          <p:nvPr/>
        </p:nvSpPr>
        <p:spPr>
          <a:xfrm>
            <a:off x="8531352" y="2240279"/>
            <a:ext cx="658368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70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 descr="Stale"/>
          <p:cNvSpPr txBox="1"/>
          <p:nvPr/>
        </p:nvSpPr>
        <p:spPr>
          <a:xfrm>
            <a:off x="9262872" y="2240279"/>
            <a:ext cx="658368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700" b="1">
                <a:solidFill>
                  <a:srgbClr val="5C6C82"/>
                </a:solidFill>
                <a:latin typeface="Arial"/>
              </a:rPr>
              <a:t>Stale</a:t>
            </a:r>
          </a:p>
        </p:txBody>
      </p:sp>
      <p:sp>
        <p:nvSpPr>
          <p:cNvPr id="34" name="TextBox 33" descr="High/Crit"/>
          <p:cNvSpPr txBox="1"/>
          <p:nvPr/>
        </p:nvSpPr>
        <p:spPr>
          <a:xfrm>
            <a:off x="9994392" y="2240279"/>
            <a:ext cx="731520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700" b="1">
                <a:solidFill>
                  <a:srgbClr val="5C6C82"/>
                </a:solidFill>
                <a:latin typeface="Arial"/>
              </a:rPr>
              <a:t>High/Crit</a:t>
            </a:r>
          </a:p>
        </p:txBody>
      </p:sp>
      <p:sp>
        <p:nvSpPr>
          <p:cNvPr id="35" name="TextBox 34" descr="Access Management"/>
          <p:cNvSpPr txBox="1"/>
          <p:nvPr/>
        </p:nvSpPr>
        <p:spPr>
          <a:xfrm>
            <a:off x="6309360" y="2496311"/>
            <a:ext cx="214884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70" b="0">
                <a:solidFill>
                  <a:srgbClr val="192334"/>
                </a:solidFill>
                <a:latin typeface="Arial"/>
              </a:rPr>
              <a:t>Access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31352" y="2468879"/>
            <a:ext cx="658368" cy="256032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5803D"/>
                </a:solidFill>
                <a:latin typeface="Arial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62872" y="2468879"/>
            <a:ext cx="658368" cy="25603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94392" y="2468879"/>
            <a:ext cx="731520" cy="25603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39" name="TextBox 38" descr="Change &amp; Integration"/>
          <p:cNvSpPr txBox="1"/>
          <p:nvPr/>
        </p:nvSpPr>
        <p:spPr>
          <a:xfrm>
            <a:off x="6309360" y="2916935"/>
            <a:ext cx="214884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70" b="0">
                <a:solidFill>
                  <a:srgbClr val="192334"/>
                </a:solidFill>
                <a:latin typeface="Arial"/>
              </a:rPr>
              <a:t>Change &amp; Integration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31352" y="2889503"/>
            <a:ext cx="658368" cy="256032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5803D"/>
                </a:solidFill>
                <a:latin typeface="Arial"/>
              </a:rPr>
              <a:t>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62872" y="2889503"/>
            <a:ext cx="658368" cy="25603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94392" y="2889503"/>
            <a:ext cx="731520" cy="25603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0</a:t>
            </a:r>
          </a:p>
        </p:txBody>
      </p:sp>
      <p:sp>
        <p:nvSpPr>
          <p:cNvPr id="43" name="TextBox 42" descr="Third Party"/>
          <p:cNvSpPr txBox="1"/>
          <p:nvPr/>
        </p:nvSpPr>
        <p:spPr>
          <a:xfrm>
            <a:off x="6309360" y="3337559"/>
            <a:ext cx="214884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70" b="0">
                <a:solidFill>
                  <a:srgbClr val="192334"/>
                </a:solidFill>
                <a:latin typeface="Arial"/>
              </a:rPr>
              <a:t>Third Party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31352" y="3310127"/>
            <a:ext cx="658368" cy="256032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5803D"/>
                </a:solidFill>
                <a:latin typeface="Arial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62872" y="3310127"/>
            <a:ext cx="658368" cy="256032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4392" y="3310127"/>
            <a:ext cx="731520" cy="25603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4462272"/>
            <a:ext cx="4892040" cy="1261872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55664" y="4590288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91C1C"/>
                </a:solidFill>
                <a:latin typeface="Arial"/>
              </a:rPr>
              <a:t>ATTENTION</a:t>
            </a:r>
          </a:p>
        </p:txBody>
      </p:sp>
      <p:sp>
        <p:nvSpPr>
          <p:cNvPr id="49" name="TextBox 48" descr="Highest displayed attention signal"/>
          <p:cNvSpPr txBox="1"/>
          <p:nvPr/>
        </p:nvSpPr>
        <p:spPr>
          <a:xfrm>
            <a:off x="6455664" y="4937760"/>
            <a:ext cx="459943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Highest displayed attention signal</a:t>
            </a:r>
          </a:p>
        </p:txBody>
      </p:sp>
      <p:sp>
        <p:nvSpPr>
          <p:cNvPr id="50" name="TextBox 49" descr="Access Management has 1 stale-evidence and 2 high/critical residual-risk cases in the governed domain summary."/>
          <p:cNvSpPr txBox="1"/>
          <p:nvPr/>
        </p:nvSpPr>
        <p:spPr>
          <a:xfrm>
            <a:off x="6455664" y="5303520"/>
            <a:ext cx="4599431" cy="310895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Access Management has 1 stale-evidence and 2 high/critical residual-risk cases in the governed domain summary.</a:t>
            </a:r>
          </a:p>
        </p:txBody>
      </p:sp>
      <p:sp>
        <p:nvSpPr>
          <p:cNvPr id="51" name="Rounded Rectangle 50">
            <a:hlinkClick action="ppaction://hlinksldjump" r:id="rId8"/>
          </p:cNvPr>
          <p:cNvSpPr/>
          <p:nvPr/>
        </p:nvSpPr>
        <p:spPr>
          <a:xfrm>
            <a:off x="658368" y="5193792"/>
            <a:ext cx="5257800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Open attention items 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>
            <a:hlinkClick action="ppaction://hlinksldjump" r:id="rId3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54" name="Rounded Rectangle 53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55" name="Rounded Rectangle 54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56" name="Rounded Rectangle 55">
            <a:hlinkClick action="ppaction://hlinksldjump" r:id="rId5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7" name="Rounded Rectangle 56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Risk report</a:t>
            </a:r>
          </a:p>
        </p:txBody>
      </p:sp>
      <p:sp>
        <p:nvSpPr>
          <p:cNvPr id="58" name="Rounded Rectangle 57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Residual risk</a:t>
            </a:r>
          </a:p>
        </p:txBody>
      </p:sp>
      <p:sp>
        <p:nvSpPr>
          <p:cNvPr id="59" name="TextBox 58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Findings &amp; Remediation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Findings &amp; Remediation</a:t>
            </a:r>
          </a:p>
        </p:txBody>
      </p:sp>
      <p:sp>
        <p:nvSpPr>
          <p:cNvPr id="3" name="TextBox 2" descr="What remains open, recurring or overdue and where management follow-up should focu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What remains open, recurring or overdue and where management follow-up should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04/08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746504"/>
            <a:ext cx="1874519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1746504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etric:open_findings" descr="Open findings: 4"/>
          <p:cNvSpPr txBox="1"/>
          <p:nvPr/>
        </p:nvSpPr>
        <p:spPr>
          <a:xfrm>
            <a:off x="822959" y="1856231"/>
            <a:ext cx="1581911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4</a:t>
            </a:r>
          </a:p>
        </p:txBody>
      </p:sp>
      <p:sp>
        <p:nvSpPr>
          <p:cNvPr id="19" name="TextBox 18" descr="Open findings"/>
          <p:cNvSpPr txBox="1"/>
          <p:nvPr/>
        </p:nvSpPr>
        <p:spPr>
          <a:xfrm>
            <a:off x="822959" y="2295144"/>
            <a:ext cx="158191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Open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15768" y="1746504"/>
            <a:ext cx="1874519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15768" y="1746504"/>
            <a:ext cx="50292" cy="93268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etric:repeat_findings" descr="Repeat findings: 1"/>
          <p:cNvSpPr txBox="1"/>
          <p:nvPr/>
        </p:nvSpPr>
        <p:spPr>
          <a:xfrm>
            <a:off x="2880360" y="1856231"/>
            <a:ext cx="1581911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23" name="TextBox 22" descr="Repeat findings"/>
          <p:cNvSpPr txBox="1"/>
          <p:nvPr/>
        </p:nvSpPr>
        <p:spPr>
          <a:xfrm>
            <a:off x="2880360" y="2295144"/>
            <a:ext cx="158191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Repeat findings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73168" y="1746504"/>
            <a:ext cx="1874519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73168" y="1746504"/>
            <a:ext cx="50292" cy="932688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etric:overdue_actions" descr="Overdue actions: 1"/>
          <p:cNvSpPr txBox="1"/>
          <p:nvPr/>
        </p:nvSpPr>
        <p:spPr>
          <a:xfrm>
            <a:off x="4937759" y="1856231"/>
            <a:ext cx="1581911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1</a:t>
            </a:r>
          </a:p>
        </p:txBody>
      </p:sp>
      <p:sp>
        <p:nvSpPr>
          <p:cNvPr id="27" name="TextBox 26" descr="Overdue actions"/>
          <p:cNvSpPr txBox="1"/>
          <p:nvPr/>
        </p:nvSpPr>
        <p:spPr>
          <a:xfrm>
            <a:off x="4937759" y="2295144"/>
            <a:ext cx="1581911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Overdue 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12864" y="1746504"/>
            <a:ext cx="4288536" cy="1417320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59168" y="1874519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B45309"/>
                </a:solidFill>
                <a:latin typeface="Arial"/>
              </a:rPr>
              <a:t>PRIORITY</a:t>
            </a:r>
          </a:p>
        </p:txBody>
      </p:sp>
      <p:sp>
        <p:nvSpPr>
          <p:cNvPr id="30" name="TextBox 29" descr="Persistence matters more than volume"/>
          <p:cNvSpPr txBox="1"/>
          <p:nvPr/>
        </p:nvSpPr>
        <p:spPr>
          <a:xfrm>
            <a:off x="7059168" y="2221991"/>
            <a:ext cx="3995928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Persistence matters more than volume</a:t>
            </a:r>
          </a:p>
        </p:txBody>
      </p:sp>
      <p:sp>
        <p:nvSpPr>
          <p:cNvPr id="31" name="TextBox 30" descr="A repeat finding and an overdue action are escalation signals: they indicate persistence or delayed remediation rather than simply a larger inventory."/>
          <p:cNvSpPr txBox="1"/>
          <p:nvPr/>
        </p:nvSpPr>
        <p:spPr>
          <a:xfrm>
            <a:off x="7059168" y="2587752"/>
            <a:ext cx="3995928" cy="4663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A repeat finding and an overdue action are escalation signals: they indicate persistence or delayed remediation rather than simply a larger inventory.</a:t>
            </a:r>
          </a:p>
        </p:txBody>
      </p:sp>
      <p:sp>
        <p:nvSpPr>
          <p:cNvPr id="32" name="TextBox 31" descr="CURRENT MANAGEMENT ACTIONS"/>
          <p:cNvSpPr txBox="1"/>
          <p:nvPr/>
        </p:nvSpPr>
        <p:spPr>
          <a:xfrm>
            <a:off x="658368" y="3072384"/>
            <a:ext cx="27432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CURRENT MANAGEMENT ACTIONS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58368" y="3383280"/>
          <a:ext cx="674827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654"/>
                <a:gridCol w="1349654"/>
                <a:gridCol w="1349654"/>
                <a:gridCol w="1349654"/>
                <a:gridCol w="1349656"/>
              </a:tblGrid>
              <a:tr h="284770"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Overdue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Days</a:t>
                      </a:r>
                    </a:p>
                  </a:txBody>
                  <a:tcPr marL="36576" marR="36576" marT="22860" marB="22860">
                    <a:solidFill>
                      <a:srgbClr val="142A4A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ACT_DATA_001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FND_DATA_001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OPEN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ACT_IAM_001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FND_IAM_001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CLOSED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ACT_TP_CLOSED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CLOSED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ACT_TP_DUE_TODAY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OPEN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</a:tr>
              <a:tr h="284770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ACT_TP_FUTURE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IN_PROGRESS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False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6576" marR="36576" marT="22860" marB="22860">
                    <a:solidFill>
                      <a:srgbClr val="FFFFFF"/>
                    </a:solidFill>
                  </a:tcPr>
                </a:tc>
              </a:tr>
              <a:tr h="284772"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ACT_TP_OVERDUE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FND_TP_001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OPEN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True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0">
                          <a:solidFill>
                            <a:srgbClr val="192334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6576" marR="36576" marT="22860" marB="22860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7708392" y="3383280"/>
            <a:ext cx="3493008" cy="13167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854696" y="3511296"/>
            <a:ext cx="1188720" cy="25603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CONTROL</a:t>
            </a:r>
          </a:p>
        </p:txBody>
      </p:sp>
      <p:sp>
        <p:nvSpPr>
          <p:cNvPr id="36" name="TextBox 35" descr="Closure is not just an administrative status"/>
          <p:cNvSpPr txBox="1"/>
          <p:nvPr/>
        </p:nvSpPr>
        <p:spPr>
          <a:xfrm>
            <a:off x="7854696" y="3858768"/>
            <a:ext cx="320040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20" b="1">
                <a:solidFill>
                  <a:srgbClr val="142A4A"/>
                </a:solidFill>
                <a:latin typeface="Arial"/>
              </a:rPr>
              <a:t>Closure is not just an administrative status</a:t>
            </a:r>
          </a:p>
        </p:txBody>
      </p:sp>
      <p:sp>
        <p:nvSpPr>
          <p:cNvPr id="37" name="TextBox 36" descr="Where available, closure-validation evidence should remain linked to action status so CLOSED does not become a substitute for evidence that remediation actually worked."/>
          <p:cNvSpPr txBox="1"/>
          <p:nvPr/>
        </p:nvSpPr>
        <p:spPr>
          <a:xfrm>
            <a:off x="7854696" y="4224528"/>
            <a:ext cx="3200400" cy="365759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40" b="0">
                <a:solidFill>
                  <a:srgbClr val="192334"/>
                </a:solidFill>
                <a:latin typeface="Arial"/>
              </a:rPr>
              <a:t>Where available, closure-validation evidence should remain linked to action status so CLOSED does not become a substitute for evidence that remediation actually worked.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7708392" y="4928616"/>
            <a:ext cx="3493008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View finding detail 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>
            <a:hlinkClick action="ppaction://hlinksldjump" r:id="rId4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2" name="Rounded Rectangle 41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3" name="Rounded Rectangle 42">
            <a:hlinkClick action="ppaction://hlinksldjump" r:id="rId6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44" name="Rounded Rectangle 43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Findings report</a:t>
            </a:r>
          </a:p>
        </p:txBody>
      </p:sp>
      <p:sp>
        <p:nvSpPr>
          <p:cNvPr id="45" name="Rounded Rectangle 44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Actions chart</a:t>
            </a:r>
          </a:p>
        </p:txBody>
      </p:sp>
      <p:sp>
        <p:nvSpPr>
          <p:cNvPr id="46" name="TextBox 45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Data Trust &amp; Reconciliation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Data Trust &amp; Reconciliation</a:t>
            </a:r>
          </a:p>
        </p:txBody>
      </p:sp>
      <p:sp>
        <p:nvSpPr>
          <p:cNvPr id="3" name="TextBox 2" descr="Confidence in the data path, mapping state and publication integrity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Confidence in the data path, mapping state and publication integrity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05/08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Every source record is accounted for"/>
          <p:cNvSpPr txBox="1"/>
          <p:nvPr/>
        </p:nvSpPr>
        <p:spPr>
          <a:xfrm>
            <a:off x="658368" y="1719072"/>
            <a:ext cx="1054303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Every source record is accounted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340864"/>
            <a:ext cx="2423160" cy="113385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 descr="291 expected"/>
          <p:cNvSpPr txBox="1"/>
          <p:nvPr/>
        </p:nvSpPr>
        <p:spPr>
          <a:xfrm>
            <a:off x="795528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1E40AF"/>
                </a:solidFill>
                <a:latin typeface="Arial"/>
              </a:rPr>
              <a:t>291 expected</a:t>
            </a:r>
          </a:p>
        </p:txBody>
      </p:sp>
      <p:sp>
        <p:nvSpPr>
          <p:cNvPr id="19" name="TextBox 18" descr="→"/>
          <p:cNvSpPr txBox="1"/>
          <p:nvPr/>
        </p:nvSpPr>
        <p:spPr>
          <a:xfrm>
            <a:off x="3090672" y="2706624"/>
            <a:ext cx="256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800" b="1">
                <a:solidFill>
                  <a:srgbClr val="2463EB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2340864"/>
            <a:ext cx="2423160" cy="1133856"/>
          </a:xfrm>
          <a:prstGeom prst="roundRect">
            <a:avLst/>
          </a:prstGeom>
          <a:solidFill>
            <a:srgbClr val="E1F9FD"/>
          </a:solidFill>
          <a:ln>
            <a:solidFill>
              <a:srgbClr val="E1F9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 descr="291 received"/>
          <p:cNvSpPr txBox="1"/>
          <p:nvPr/>
        </p:nvSpPr>
        <p:spPr>
          <a:xfrm>
            <a:off x="3483864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0E7490"/>
                </a:solidFill>
                <a:latin typeface="Arial"/>
              </a:rPr>
              <a:t>291 received</a:t>
            </a:r>
          </a:p>
        </p:txBody>
      </p:sp>
      <p:sp>
        <p:nvSpPr>
          <p:cNvPr id="22" name="TextBox 21" descr="→"/>
          <p:cNvSpPr txBox="1"/>
          <p:nvPr/>
        </p:nvSpPr>
        <p:spPr>
          <a:xfrm>
            <a:off x="5779008" y="2706624"/>
            <a:ext cx="256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800" b="1">
                <a:solidFill>
                  <a:srgbClr val="2463EB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340864"/>
            <a:ext cx="2423160" cy="1133856"/>
          </a:xfrm>
          <a:prstGeom prst="roundRect">
            <a:avLst/>
          </a:prstGeom>
          <a:solidFill>
            <a:srgbClr val="F7ECFF"/>
          </a:solidFill>
          <a:ln>
            <a:solidFill>
              <a:srgbClr val="F7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 descr="281 mapped"/>
          <p:cNvSpPr txBox="1"/>
          <p:nvPr/>
        </p:nvSpPr>
        <p:spPr>
          <a:xfrm>
            <a:off x="6172200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7E22CE"/>
                </a:solidFill>
                <a:latin typeface="Arial"/>
              </a:rPr>
              <a:t>281 mapped</a:t>
            </a:r>
          </a:p>
        </p:txBody>
      </p:sp>
      <p:sp>
        <p:nvSpPr>
          <p:cNvPr id="25" name="TextBox 24" descr="→"/>
          <p:cNvSpPr txBox="1"/>
          <p:nvPr/>
        </p:nvSpPr>
        <p:spPr>
          <a:xfrm>
            <a:off x="8467344" y="2706624"/>
            <a:ext cx="256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1800" b="1">
                <a:solidFill>
                  <a:srgbClr val="2463EB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3376" y="2340864"/>
            <a:ext cx="2423160" cy="1133856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253 evaluated"/>
          <p:cNvSpPr txBox="1"/>
          <p:nvPr/>
        </p:nvSpPr>
        <p:spPr>
          <a:xfrm>
            <a:off x="8860536" y="2651760"/>
            <a:ext cx="214884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2000" b="1">
                <a:solidFill>
                  <a:srgbClr val="15803D"/>
                </a:solidFill>
                <a:latin typeface="Arial"/>
              </a:rPr>
              <a:t>253 evaluated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49039"/>
            <a:ext cx="5074920" cy="932688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 descr="10 unmapped source records"/>
          <p:cNvSpPr txBox="1"/>
          <p:nvPr/>
        </p:nvSpPr>
        <p:spPr>
          <a:xfrm>
            <a:off x="841248" y="3886200"/>
            <a:ext cx="470916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600" b="1">
                <a:solidFill>
                  <a:srgbClr val="142A4A"/>
                </a:solidFill>
                <a:latin typeface="Arial"/>
              </a:rPr>
              <a:t>10 unmapped source records</a:t>
            </a:r>
          </a:p>
        </p:txBody>
      </p:sp>
      <p:sp>
        <p:nvSpPr>
          <p:cNvPr id="30" name="TextBox 29" descr="Received = mapped + unmapped source records"/>
          <p:cNvSpPr txBox="1"/>
          <p:nvPr/>
        </p:nvSpPr>
        <p:spPr>
          <a:xfrm>
            <a:off x="841248" y="4288536"/>
            <a:ext cx="47091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Received = mapped + unmapped source records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749039"/>
            <a:ext cx="5166360" cy="932688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 descr="28 not tested (mapped source records)"/>
          <p:cNvSpPr txBox="1"/>
          <p:nvPr/>
        </p:nvSpPr>
        <p:spPr>
          <a:xfrm>
            <a:off x="6217920" y="3886200"/>
            <a:ext cx="480060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600" b="1">
                <a:solidFill>
                  <a:srgbClr val="142A4A"/>
                </a:solidFill>
                <a:latin typeface="Arial"/>
              </a:rPr>
              <a:t>28 not tested (mapped source records)</a:t>
            </a:r>
          </a:p>
        </p:txBody>
      </p:sp>
      <p:sp>
        <p:nvSpPr>
          <p:cNvPr id="33" name="TextBox 32" descr="Mapped = evaluated + not tested"/>
          <p:cNvSpPr txBox="1"/>
          <p:nvPr/>
        </p:nvSpPr>
        <p:spPr>
          <a:xfrm>
            <a:off x="6217920" y="4288536"/>
            <a:ext cx="480060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Mapped = evaluated + not tested</a:t>
            </a:r>
          </a:p>
        </p:txBody>
      </p:sp>
      <p:sp>
        <p:nvSpPr>
          <p:cNvPr id="34" name="TextBox 33" descr="Separate assurance-test measure: 1 unmapped assurance test. Source-record counts above use a different grain."/>
          <p:cNvSpPr txBox="1"/>
          <p:nvPr/>
        </p:nvSpPr>
        <p:spPr>
          <a:xfrm>
            <a:off x="658368" y="4910328"/>
            <a:ext cx="10543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0">
                <a:solidFill>
                  <a:srgbClr val="142A4A"/>
                </a:solidFill>
                <a:latin typeface="Arial"/>
              </a:rPr>
              <a:t>Separate assurance-test measure: 1 unmapped assurance test. Source-record counts above use a different grain.</a:t>
            </a:r>
          </a:p>
        </p:txBody>
      </p:sp>
      <p:sp>
        <p:nvSpPr>
          <p:cNvPr id="35" name="TextBox 34" descr="Intermediate gates: 291 structurally valid; 281 testable. Rejected and not-testable populations are retained explicitly."/>
          <p:cNvSpPr txBox="1"/>
          <p:nvPr/>
        </p:nvSpPr>
        <p:spPr>
          <a:xfrm>
            <a:off x="658368" y="5266944"/>
            <a:ext cx="10543032" cy="1645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Intermediate gates: 291 structurally valid; 281 testable. Rejected and not-testable populations are retained explicitly.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449824"/>
            <a:ext cx="10543032" cy="61264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 descr="Trust boundary"/>
          <p:cNvSpPr txBox="1"/>
          <p:nvPr/>
        </p:nvSpPr>
        <p:spPr>
          <a:xfrm>
            <a:off x="841248" y="5559552"/>
            <a:ext cx="150876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Trust boundary</a:t>
            </a:r>
          </a:p>
        </p:txBody>
      </p:sp>
      <p:sp>
        <p:nvSpPr>
          <p:cNvPr id="38" name="TextBox 37" descr="Run IDs, hashes and lineage establish identity. Independent validation and governed population checks establish analytical correctness."/>
          <p:cNvSpPr txBox="1"/>
          <p:nvPr/>
        </p:nvSpPr>
        <p:spPr>
          <a:xfrm>
            <a:off x="2450592" y="5559552"/>
            <a:ext cx="8531352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Run IDs, hashes and lineage establish identity. Independent validation and governed population checks establish analytical correctness.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>
            <a:hlinkClick action="ppaction://hlinksldjump" r:id="rId5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2" name="Rounded Rectangle 41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3" name="Rounded Rectangle 42">
            <a:hlinkClick action="ppaction://hlinksldjump" r:id="rId7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44" name="Rounded Rectangle 43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Data-trust report</a:t>
            </a:r>
          </a:p>
        </p:txBody>
      </p:sp>
      <p:sp>
        <p:nvSpPr>
          <p:cNvPr id="45" name="Rounded Rectangle 44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Freshness chart</a:t>
            </a:r>
          </a:p>
        </p:txBody>
      </p:sp>
      <p:sp>
        <p:nvSpPr>
          <p:cNvPr id="46" name="TextBox 45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raceability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Traceability</a:t>
            </a:r>
          </a:p>
        </p:txBody>
      </p:sp>
      <p:sp>
        <p:nvSpPr>
          <p:cNvPr id="3" name="TextBox 2" descr="How executive claims trace back to governed evidence and current-run artifact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How executive claims trace back to governed evidence and current-run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06/08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Synthetic sources, one governed analytical truth"/>
          <p:cNvSpPr txBox="1"/>
          <p:nvPr/>
        </p:nvSpPr>
        <p:spPr>
          <a:xfrm>
            <a:off x="658368" y="1700784"/>
            <a:ext cx="1054303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000" b="1">
                <a:solidFill>
                  <a:srgbClr val="142A4A"/>
                </a:solidFill>
                <a:latin typeface="Arial"/>
              </a:rPr>
              <a:t>Synthetic sources, one governed analytical truth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 descr="SQLite / enterprise reference"/>
          <p:cNvSpPr txBox="1"/>
          <p:nvPr/>
        </p:nvSpPr>
        <p:spPr>
          <a:xfrm>
            <a:off x="786384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SQLite / enterprise reference</a:t>
            </a:r>
          </a:p>
        </p:txBody>
      </p:sp>
      <p:sp>
        <p:nvSpPr>
          <p:cNvPr id="19" name="TextBox 18" descr="Enterprise identity, risk/control context and mapping references"/>
          <p:cNvSpPr txBox="1"/>
          <p:nvPr/>
        </p:nvSpPr>
        <p:spPr>
          <a:xfrm>
            <a:off x="786384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Enterprise identity, risk/control context and mapping references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 descr="JSON / control evidence"/>
          <p:cNvSpPr txBox="1"/>
          <p:nvPr/>
        </p:nvSpPr>
        <p:spPr>
          <a:xfrm>
            <a:off x="3474720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JSON / control evidence</a:t>
            </a:r>
          </a:p>
        </p:txBody>
      </p:sp>
      <p:sp>
        <p:nvSpPr>
          <p:cNvPr id="22" name="TextBox 21" descr="Control testing and evidence populations"/>
          <p:cNvSpPr txBox="1"/>
          <p:nvPr/>
        </p:nvSpPr>
        <p:spPr>
          <a:xfrm>
            <a:off x="3474720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Control testing and evidence populations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 descr="CSV / findings"/>
          <p:cNvSpPr txBox="1"/>
          <p:nvPr/>
        </p:nvSpPr>
        <p:spPr>
          <a:xfrm>
            <a:off x="6163055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CSV / findings</a:t>
            </a:r>
          </a:p>
        </p:txBody>
      </p:sp>
      <p:sp>
        <p:nvSpPr>
          <p:cNvPr id="25" name="TextBox 24" descr="Finding status and recurrence history"/>
          <p:cNvSpPr txBox="1"/>
          <p:nvPr/>
        </p:nvSpPr>
        <p:spPr>
          <a:xfrm>
            <a:off x="6163055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Finding status and recurrence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3376" y="2258568"/>
            <a:ext cx="2423160" cy="135331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CSV / management actions"/>
          <p:cNvSpPr txBox="1"/>
          <p:nvPr/>
        </p:nvSpPr>
        <p:spPr>
          <a:xfrm>
            <a:off x="8851392" y="2395728"/>
            <a:ext cx="2167128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CSV / management actions</a:t>
            </a:r>
          </a:p>
        </p:txBody>
      </p:sp>
      <p:sp>
        <p:nvSpPr>
          <p:cNvPr id="28" name="TextBox 27" descr="Remediation ownership, target dates and closure"/>
          <p:cNvSpPr txBox="1"/>
          <p:nvPr/>
        </p:nvSpPr>
        <p:spPr>
          <a:xfrm>
            <a:off x="8851392" y="2871216"/>
            <a:ext cx="2167128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Remediation ownership, target dates and closure</a:t>
            </a:r>
          </a:p>
        </p:txBody>
      </p:sp>
      <p:sp>
        <p:nvSpPr>
          <p:cNvPr id="29" name="TextBox 28" descr="PYTHON-DRIVEN FLOW"/>
          <p:cNvSpPr txBox="1"/>
          <p:nvPr/>
        </p:nvSpPr>
        <p:spPr>
          <a:xfrm>
            <a:off x="658368" y="3840480"/>
            <a:ext cx="320040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1">
                <a:solidFill>
                  <a:srgbClr val="5C6C82"/>
                </a:solidFill>
                <a:latin typeface="Arial"/>
              </a:rPr>
              <a:t>PYTHON-DRIVEN FLOW</a:t>
            </a:r>
          </a:p>
        </p:txBody>
      </p:sp>
      <p:sp>
        <p:nvSpPr>
          <p:cNvPr id="30" name="TextBox 29" descr="Source ingestion → Structural validation → Identity normalization → Population reconciliation"/>
          <p:cNvSpPr txBox="1"/>
          <p:nvPr/>
        </p:nvSpPr>
        <p:spPr>
          <a:xfrm>
            <a:off x="658368" y="4187952"/>
            <a:ext cx="10543032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300" b="1">
                <a:solidFill>
                  <a:srgbClr val="142A4A"/>
                </a:solidFill>
                <a:latin typeface="Arial"/>
              </a:rPr>
              <a:t>Source ingestion → Structural validation → Identity normalization → Population reconciliation</a:t>
            </a:r>
          </a:p>
        </p:txBody>
      </p:sp>
      <p:sp>
        <p:nvSpPr>
          <p:cNvPr id="31" name="TextBox 30" descr="Governed analytics → Independent metric validation → Shared publication → PowerPoint / HTML / Tableau"/>
          <p:cNvSpPr txBox="1"/>
          <p:nvPr/>
        </p:nvSpPr>
        <p:spPr>
          <a:xfrm>
            <a:off x="658368" y="4626864"/>
            <a:ext cx="10543032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300" b="1">
                <a:solidFill>
                  <a:srgbClr val="142A4A"/>
                </a:solidFill>
                <a:latin typeface="Arial"/>
              </a:rPr>
              <a:t>Governed analytics → Independent metric validation → Shared publication → PowerPoint / HTML / Tableau</a:t>
            </a:r>
          </a:p>
        </p:txBody>
      </p:sp>
      <p:sp>
        <p:nvSpPr>
          <p:cNvPr id="32" name="TextBox 31" descr="Executive claim → published metric/table → independent validation → governed input → source/configuration"/>
          <p:cNvSpPr txBox="1"/>
          <p:nvPr/>
        </p:nvSpPr>
        <p:spPr>
          <a:xfrm>
            <a:off x="658368" y="5102352"/>
            <a:ext cx="10543032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1">
                <a:solidFill>
                  <a:srgbClr val="142A4A"/>
                </a:solidFill>
                <a:latin typeface="Arial"/>
              </a:rPr>
              <a:t>Executive claim → published metric/table → independent validation → governed input → source/configuration</a:t>
            </a:r>
          </a:p>
        </p:txBody>
      </p:sp>
      <p:sp>
        <p:nvSpPr>
          <p:cNvPr id="33" name="TextBox 32" descr="Grain: one test per test ID / period; findings and actions retain their grains."/>
          <p:cNvSpPr txBox="1"/>
          <p:nvPr/>
        </p:nvSpPr>
        <p:spPr>
          <a:xfrm>
            <a:off x="658368" y="5486400"/>
            <a:ext cx="10543032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Grain: one test per test ID / period; findings and actions retain their grains.</a:t>
            </a:r>
          </a:p>
        </p:txBody>
      </p:sp>
      <p:sp>
        <p:nvSpPr>
          <p:cNvPr id="34" name="TextBox 33" descr="Run identity and hashes establish traceability; metric-contract and scenario checks establish analytical correctness."/>
          <p:cNvSpPr txBox="1"/>
          <p:nvPr/>
        </p:nvSpPr>
        <p:spPr>
          <a:xfrm>
            <a:off x="658368" y="5715000"/>
            <a:ext cx="10543032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Run identity and hashes establish traceability; metric-contract and scenario checks establish analytical correctness.</a:t>
            </a:r>
          </a:p>
        </p:txBody>
      </p:sp>
      <p:sp>
        <p:nvSpPr>
          <p:cNvPr id="35" name="Rounded Rectangle 34">
            <a:hlinkClick action="ppaction://hlinksldjump" r:id="rId8"/>
          </p:cNvPr>
          <p:cNvSpPr/>
          <p:nvPr/>
        </p:nvSpPr>
        <p:spPr>
          <a:xfrm>
            <a:off x="658368" y="5961888"/>
            <a:ext cx="10543032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Explore current-run evidence 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>
            <a:hlinkClick action="ppaction://hlinksldjump" r:id="rId6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0" name="Rounded Rectangle 39">
            <a:hlinkClick action="ppaction://hlinksldjump" r:id="rId8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41" name="Rounded Rectangle 40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Data-trust report</a:t>
            </a:r>
          </a:p>
        </p:txBody>
      </p:sp>
      <p:sp>
        <p:nvSpPr>
          <p:cNvPr id="42" name="TextBox 41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Interactive Analytics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Interactive Analytics</a:t>
            </a:r>
          </a:p>
        </p:txBody>
      </p:sp>
      <p:sp>
        <p:nvSpPr>
          <p:cNvPr id="3" name="TextBox 2" descr="Native PowerPoint navigation into the deeper HTML and Tableau analytical channel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Native PowerPoint navigation into the deeper HTML and Tableau analytical channels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07/08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CHOOSE YOUR DRILL-DOWN"/>
          <p:cNvSpPr txBox="1"/>
          <p:nvPr/>
        </p:nvSpPr>
        <p:spPr>
          <a:xfrm>
            <a:off x="658368" y="1664208"/>
            <a:ext cx="32004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CHOOSE YOUR DRILL-DOWN</a:t>
            </a:r>
          </a:p>
        </p:txBody>
      </p:sp>
      <p:sp>
        <p:nvSpPr>
          <p:cNvPr id="17" name="TextBox 16" descr="Use PowerPoint as the executive navigation layer"/>
          <p:cNvSpPr txBox="1"/>
          <p:nvPr/>
        </p:nvSpPr>
        <p:spPr>
          <a:xfrm>
            <a:off x="658368" y="1920240"/>
            <a:ext cx="658368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700" b="1">
                <a:solidFill>
                  <a:srgbClr val="142A4A"/>
                </a:solidFill>
                <a:latin typeface="Arial"/>
              </a:rPr>
              <a:t>Use PowerPoint as the executive navigation layer</a:t>
            </a:r>
          </a:p>
        </p:txBody>
      </p:sp>
      <p:sp>
        <p:nvSpPr>
          <p:cNvPr id="18" name="TextBox 17" descr="Click a tile to move within the deck, or open the richer browser/Tableau channels for filtering and record-level exploration."/>
          <p:cNvSpPr txBox="1"/>
          <p:nvPr/>
        </p:nvSpPr>
        <p:spPr>
          <a:xfrm>
            <a:off x="658368" y="2331720"/>
            <a:ext cx="804672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00" b="0">
                <a:solidFill>
                  <a:srgbClr val="5C6C82"/>
                </a:solidFill>
                <a:latin typeface="Arial"/>
              </a:rPr>
              <a:t>Click a tile to move within the deck, or open the richer browser/Tableau channels for filtering and record-level exploration.</a:t>
            </a:r>
          </a:p>
        </p:txBody>
      </p:sp>
      <p:sp>
        <p:nvSpPr>
          <p:cNvPr id="19" name="Rounded Rectangle 18">
            <a:hlinkClick action="ppaction://hlinksldjump" r:id="rId3"/>
          </p:cNvPr>
          <p:cNvSpPr/>
          <p:nvPr/>
        </p:nvSpPr>
        <p:spPr>
          <a:xfrm>
            <a:off x="658368" y="2871216"/>
            <a:ext cx="3255264" cy="969264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" y="3008376"/>
            <a:ext cx="384048" cy="256032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1" name="TextBox 20" descr="Evidence Quality"/>
          <p:cNvSpPr txBox="1"/>
          <p:nvPr/>
        </p:nvSpPr>
        <p:spPr>
          <a:xfrm>
            <a:off x="1298448" y="2999232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Evidence Quality</a:t>
            </a:r>
          </a:p>
        </p:txBody>
      </p:sp>
      <p:sp>
        <p:nvSpPr>
          <p:cNvPr id="22" name="TextBox 21" descr="Evidence sufficiency, freshness and confidence"/>
          <p:cNvSpPr txBox="1"/>
          <p:nvPr/>
        </p:nvSpPr>
        <p:spPr>
          <a:xfrm>
            <a:off x="1298448" y="3319272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Evidence sufficiency, freshness and confidence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4187952" y="2871216"/>
            <a:ext cx="3255264" cy="969264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4256" y="3008376"/>
            <a:ext cx="384048" cy="256032"/>
          </a:xfrm>
          <a:prstGeom prst="round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5" name="TextBox 24" descr="Risk &amp; Control"/>
          <p:cNvSpPr txBox="1"/>
          <p:nvPr/>
        </p:nvSpPr>
        <p:spPr>
          <a:xfrm>
            <a:off x="4828032" y="2999232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Risk &amp; Control</a:t>
            </a:r>
          </a:p>
        </p:txBody>
      </p:sp>
      <p:sp>
        <p:nvSpPr>
          <p:cNvPr id="26" name="TextBox 25" descr="Domain pressure and residual-risk visibility"/>
          <p:cNvSpPr txBox="1"/>
          <p:nvPr/>
        </p:nvSpPr>
        <p:spPr>
          <a:xfrm>
            <a:off x="4828032" y="3319272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Domain pressure and residual-risk visibility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7717536" y="2871216"/>
            <a:ext cx="3255264" cy="969264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63840" y="3008376"/>
            <a:ext cx="384048" cy="256032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9" name="TextBox 28" descr="Findings"/>
          <p:cNvSpPr txBox="1"/>
          <p:nvPr/>
        </p:nvSpPr>
        <p:spPr>
          <a:xfrm>
            <a:off x="8357615" y="2999232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Findings</a:t>
            </a:r>
          </a:p>
        </p:txBody>
      </p:sp>
      <p:sp>
        <p:nvSpPr>
          <p:cNvPr id="30" name="TextBox 29" descr="Open, repeat and overdue remediation signals"/>
          <p:cNvSpPr txBox="1"/>
          <p:nvPr/>
        </p:nvSpPr>
        <p:spPr>
          <a:xfrm>
            <a:off x="8357615" y="3319272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Open, repeat and overdue remediation signals</a:t>
            </a:r>
          </a:p>
        </p:txBody>
      </p:sp>
      <p:sp>
        <p:nvSpPr>
          <p:cNvPr id="31" name="Rounded Rectangle 30">
            <a:hlinkClick action="ppaction://hlinksldjump" r:id="rId6"/>
          </p:cNvPr>
          <p:cNvSpPr/>
          <p:nvPr/>
        </p:nvSpPr>
        <p:spPr>
          <a:xfrm>
            <a:off x="658368" y="4078224"/>
            <a:ext cx="3255264" cy="969264"/>
          </a:xfrm>
          <a:prstGeom prst="roundRect">
            <a:avLst/>
          </a:prstGeom>
          <a:solidFill>
            <a:srgbClr val="E5F9ED"/>
          </a:solidFill>
          <a:ln>
            <a:solidFill>
              <a:srgbClr val="E5F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4672" y="4215384"/>
            <a:ext cx="384048" cy="256032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3" name="TextBox 32" descr="Data Trust"/>
          <p:cNvSpPr txBox="1"/>
          <p:nvPr/>
        </p:nvSpPr>
        <p:spPr>
          <a:xfrm>
            <a:off x="1298448" y="4206240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Data Trust</a:t>
            </a:r>
          </a:p>
        </p:txBody>
      </p:sp>
      <p:sp>
        <p:nvSpPr>
          <p:cNvPr id="34" name="TextBox 33" descr="Lineage, validation and current-run identity"/>
          <p:cNvSpPr txBox="1"/>
          <p:nvPr/>
        </p:nvSpPr>
        <p:spPr>
          <a:xfrm>
            <a:off x="1298448" y="4526280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Lineage, validation and current-run identity</a:t>
            </a:r>
          </a:p>
        </p:txBody>
      </p:sp>
      <p:sp>
        <p:nvSpPr>
          <p:cNvPr id="35" name="Rounded Rectangle 34">
            <a:hlinkClick action="ppaction://hlinksldjump" r:id="rId7"/>
          </p:cNvPr>
          <p:cNvSpPr/>
          <p:nvPr/>
        </p:nvSpPr>
        <p:spPr>
          <a:xfrm>
            <a:off x="4187952" y="4078224"/>
            <a:ext cx="3255264" cy="969264"/>
          </a:xfrm>
          <a:prstGeom prst="roundRect">
            <a:avLst/>
          </a:prstGeom>
          <a:solidFill>
            <a:srgbClr val="F7ECFF"/>
          </a:solidFill>
          <a:ln>
            <a:solidFill>
              <a:srgbClr val="F7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334256" y="4215384"/>
            <a:ext cx="384048" cy="256032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7" name="TextBox 36" descr="Traceability"/>
          <p:cNvSpPr txBox="1"/>
          <p:nvPr/>
        </p:nvSpPr>
        <p:spPr>
          <a:xfrm>
            <a:off x="4828032" y="4206240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Traceability</a:t>
            </a:r>
          </a:p>
        </p:txBody>
      </p:sp>
      <p:sp>
        <p:nvSpPr>
          <p:cNvPr id="38" name="TextBox 37" descr="Claim-to-source evidence chain"/>
          <p:cNvSpPr txBox="1"/>
          <p:nvPr/>
        </p:nvSpPr>
        <p:spPr>
          <a:xfrm>
            <a:off x="4828032" y="4526280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Claim-to-source evidence chain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7717536" y="4078224"/>
            <a:ext cx="3255264" cy="969264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63840" y="4215384"/>
            <a:ext cx="384048" cy="256032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1" name="TextBox 40" descr="Methods"/>
          <p:cNvSpPr txBox="1"/>
          <p:nvPr/>
        </p:nvSpPr>
        <p:spPr>
          <a:xfrm>
            <a:off x="8357615" y="4206240"/>
            <a:ext cx="23317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Methods</a:t>
            </a:r>
          </a:p>
        </p:txBody>
      </p:sp>
      <p:sp>
        <p:nvSpPr>
          <p:cNvPr id="42" name="TextBox 41" descr="Scope, limitations and next steps"/>
          <p:cNvSpPr txBox="1"/>
          <p:nvPr/>
        </p:nvSpPr>
        <p:spPr>
          <a:xfrm>
            <a:off x="8357615" y="4526280"/>
            <a:ext cx="233172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750" b="0">
                <a:solidFill>
                  <a:srgbClr val="5C6C82"/>
                </a:solidFill>
                <a:latin typeface="Arial"/>
              </a:rPr>
              <a:t>Scope, limitations and next steps</a:t>
            </a:r>
          </a:p>
        </p:txBody>
      </p:sp>
      <p:sp>
        <p:nvSpPr>
          <p:cNvPr id="43" name="Rounded Rectangle 42">
            <a:hlinkClick r:id="rId10"/>
          </p:cNvPr>
          <p:cNvSpPr/>
          <p:nvPr/>
        </p:nvSpPr>
        <p:spPr>
          <a:xfrm>
            <a:off x="658368" y="5431536"/>
            <a:ext cx="5093208" cy="310896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Open interactive HTML dashboard ↗</a:t>
            </a:r>
          </a:p>
        </p:txBody>
      </p:sp>
      <p:sp>
        <p:nvSpPr>
          <p:cNvPr id="44" name="Rounded Rectangle 43">
            <a:hlinkClick r:id="rId11"/>
          </p:cNvPr>
          <p:cNvSpPr/>
          <p:nvPr/>
        </p:nvSpPr>
        <p:spPr>
          <a:xfrm>
            <a:off x="6117336" y="5431536"/>
            <a:ext cx="5084064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Open Tableau package 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>
            <a:hlinkClick action="ppaction://hlinksldjump" r:id="rId7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8" name="Rounded Rectangle 47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49" name="Rounded Rectangle 48">
            <a:hlinkClick action="ppaction://hlinksldjump" r:id="rId9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0" name="Rounded Rectangle 49">
            <a:hlinkClick r:id="rId10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HTML</a:t>
            </a:r>
          </a:p>
        </p:txBody>
      </p:sp>
      <p:sp>
        <p:nvSpPr>
          <p:cNvPr id="51" name="Rounded Rectangle 50">
            <a:hlinkClick r:id="rId11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Tableau</a:t>
            </a:r>
          </a:p>
        </p:txBody>
      </p:sp>
      <p:sp>
        <p:nvSpPr>
          <p:cNvPr id="52" name="TextBox 51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Methodology, Limitations &amp; Next Steps"/>
          <p:cNvSpPr txBox="1"/>
          <p:nvPr/>
        </p:nvSpPr>
        <p:spPr>
          <a:xfrm>
            <a:off x="621792" y="310896"/>
            <a:ext cx="7955279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300" b="1">
                <a:solidFill>
                  <a:srgbClr val="142A4A"/>
                </a:solidFill>
                <a:latin typeface="Arial"/>
              </a:rPr>
              <a:t>Methodology, Limitations &amp; Next Steps</a:t>
            </a:r>
          </a:p>
        </p:txBody>
      </p:sp>
      <p:sp>
        <p:nvSpPr>
          <p:cNvPr id="3" name="TextBox 2" descr="Scope, validation boundaries, limitations and recommended next actions"/>
          <p:cNvSpPr txBox="1"/>
          <p:nvPr/>
        </p:nvSpPr>
        <p:spPr>
          <a:xfrm>
            <a:off x="640080" y="768096"/>
            <a:ext cx="90525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950" b="0">
                <a:solidFill>
                  <a:srgbClr val="5C6C82"/>
                </a:solidFill>
                <a:latin typeface="Arial"/>
              </a:rPr>
              <a:t>Scope, validation boundaries, limitations and recommended next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35440" y="338328"/>
            <a:ext cx="1417320" cy="256032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AS OF 2026-09-30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71632" y="338328"/>
            <a:ext cx="713232" cy="256032"/>
          </a:xfrm>
          <a:prstGeom prst="roundRect">
            <a:avLst/>
          </a:prstGeom>
          <a:solidFill>
            <a:srgbClr val="EFF3F8"/>
          </a:solidFill>
          <a:ln>
            <a:solidFill>
              <a:srgbClr val="EFF3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08/08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78992"/>
            <a:ext cx="10835640" cy="2286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 descr="Run 20261006T015512364859Z"/>
          <p:cNvSpPr txBox="1"/>
          <p:nvPr/>
        </p:nvSpPr>
        <p:spPr>
          <a:xfrm>
            <a:off x="8485632" y="786384"/>
            <a:ext cx="29718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/>
            <a:r>
              <a:rPr sz="730" b="0">
                <a:solidFill>
                  <a:srgbClr val="5C6C82"/>
                </a:solidFill>
                <a:latin typeface="Arial"/>
              </a:rPr>
              <a:t>Run 20261006T015512364859Z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64008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Snapshot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97510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Evidence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310128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Risk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4645152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Findings</a:t>
            </a:r>
          </a:p>
        </p:txBody>
      </p:sp>
      <p:sp>
        <p:nvSpPr>
          <p:cNvPr id="12" name="Rounded Rectangle 11">
            <a:hlinkClick action="ppaction://hlinksldjump" r:id="rId6"/>
          </p:cNvPr>
          <p:cNvSpPr/>
          <p:nvPr/>
        </p:nvSpPr>
        <p:spPr>
          <a:xfrm>
            <a:off x="5980176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Trust</a:t>
            </a:r>
          </a:p>
        </p:txBody>
      </p:sp>
      <p:sp>
        <p:nvSpPr>
          <p:cNvPr id="13" name="Rounded Rectangle 12">
            <a:hlinkClick action="ppaction://hlinksldjump" r:id="rId7"/>
          </p:cNvPr>
          <p:cNvSpPr/>
          <p:nvPr/>
        </p:nvSpPr>
        <p:spPr>
          <a:xfrm>
            <a:off x="7315200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Trace</a:t>
            </a:r>
          </a:p>
        </p:txBody>
      </p:sp>
      <p:sp>
        <p:nvSpPr>
          <p:cNvPr id="14" name="Rounded Rectangle 13">
            <a:hlinkClick action="ppaction://hlinksldjump" r:id="rId8"/>
          </p:cNvPr>
          <p:cNvSpPr/>
          <p:nvPr/>
        </p:nvSpPr>
        <p:spPr>
          <a:xfrm>
            <a:off x="8650224" y="1179576"/>
            <a:ext cx="1298448" cy="274320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5C6C82"/>
                </a:solidFill>
                <a:latin typeface="Arial"/>
              </a:rPr>
              <a:t>Explore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85247" y="1179576"/>
            <a:ext cx="1298448" cy="274320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16" name="TextBox 15" descr="METHOD &amp; ACCEPTANCE"/>
          <p:cNvSpPr txBox="1"/>
          <p:nvPr/>
        </p:nvSpPr>
        <p:spPr>
          <a:xfrm>
            <a:off x="658368" y="1664208"/>
            <a:ext cx="256032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800" b="1">
                <a:solidFill>
                  <a:srgbClr val="5C6C82"/>
                </a:solidFill>
                <a:latin typeface="Arial"/>
              </a:rPr>
              <a:t>METHOD &amp; ACCEPTANCE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199339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1993392"/>
            <a:ext cx="50292" cy="932688"/>
          </a:xfrm>
          <a:prstGeom prst="round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 descr="20261006T015512364859Z"/>
          <p:cNvSpPr txBox="1"/>
          <p:nvPr/>
        </p:nvSpPr>
        <p:spPr>
          <a:xfrm>
            <a:off x="822959" y="210312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1">
                <a:solidFill>
                  <a:srgbClr val="142A4A"/>
                </a:solidFill>
                <a:latin typeface="Arial"/>
              </a:rPr>
              <a:t>20261006T015512364859Z</a:t>
            </a:r>
          </a:p>
        </p:txBody>
      </p:sp>
      <p:sp>
        <p:nvSpPr>
          <p:cNvPr id="20" name="TextBox 19" descr="Publication run"/>
          <p:cNvSpPr txBox="1"/>
          <p:nvPr/>
        </p:nvSpPr>
        <p:spPr>
          <a:xfrm>
            <a:off x="822959" y="254203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Publication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5536" y="199339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45536" y="1993392"/>
            <a:ext cx="50292" cy="932688"/>
          </a:xfrm>
          <a:prstGeom prst="roundRect">
            <a:avLst/>
          </a:prstGeom>
          <a:solidFill>
            <a:srgbClr val="7E22CE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 descr="2026-09-v1"/>
          <p:cNvSpPr txBox="1"/>
          <p:nvPr/>
        </p:nvSpPr>
        <p:spPr>
          <a:xfrm>
            <a:off x="3310128" y="210312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2026-09-v1</a:t>
            </a:r>
          </a:p>
        </p:txBody>
      </p:sp>
      <p:sp>
        <p:nvSpPr>
          <p:cNvPr id="24" name="TextBox 23" descr="Methodology"/>
          <p:cNvSpPr txBox="1"/>
          <p:nvPr/>
        </p:nvSpPr>
        <p:spPr>
          <a:xfrm>
            <a:off x="3310128" y="254203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Methodology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9067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3090672"/>
            <a:ext cx="50292" cy="932688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 descr="PASS"/>
          <p:cNvSpPr txBox="1"/>
          <p:nvPr/>
        </p:nvSpPr>
        <p:spPr>
          <a:xfrm>
            <a:off x="822959" y="320040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PASS</a:t>
            </a:r>
          </a:p>
        </p:txBody>
      </p:sp>
      <p:sp>
        <p:nvSpPr>
          <p:cNvPr id="28" name="TextBox 27" descr="Metric validation"/>
          <p:cNvSpPr txBox="1"/>
          <p:nvPr/>
        </p:nvSpPr>
        <p:spPr>
          <a:xfrm>
            <a:off x="822959" y="363931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Metric validation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45536" y="3090672"/>
            <a:ext cx="2240280" cy="932688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145536" y="3090672"/>
            <a:ext cx="50292" cy="932688"/>
          </a:xfrm>
          <a:prstGeom prst="round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 descr="PASS"/>
          <p:cNvSpPr txBox="1"/>
          <p:nvPr/>
        </p:nvSpPr>
        <p:spPr>
          <a:xfrm>
            <a:off x="3310128" y="3200400"/>
            <a:ext cx="19476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100" b="1">
                <a:solidFill>
                  <a:srgbClr val="142A4A"/>
                </a:solidFill>
                <a:latin typeface="Arial"/>
              </a:rPr>
              <a:t>PASS</a:t>
            </a:r>
          </a:p>
        </p:txBody>
      </p:sp>
      <p:sp>
        <p:nvSpPr>
          <p:cNvPr id="32" name="TextBox 31" descr="Publication validation"/>
          <p:cNvSpPr txBox="1"/>
          <p:nvPr/>
        </p:nvSpPr>
        <p:spPr>
          <a:xfrm>
            <a:off x="3310128" y="3639312"/>
            <a:ext cx="194767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Publication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1874519"/>
            <a:ext cx="5394960" cy="914400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 descr="Priority 1 — Restore decision confidence"/>
          <p:cNvSpPr txBox="1"/>
          <p:nvPr/>
        </p:nvSpPr>
        <p:spPr>
          <a:xfrm>
            <a:off x="5971032" y="1984248"/>
            <a:ext cx="5065776" cy="2651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1">
                <a:solidFill>
                  <a:srgbClr val="142A4A"/>
                </a:solidFill>
                <a:latin typeface="Arial"/>
              </a:rPr>
              <a:t>Priority 1 — Restore decision confidence</a:t>
            </a:r>
          </a:p>
        </p:txBody>
      </p:sp>
      <p:sp>
        <p:nvSpPr>
          <p:cNvPr id="35" name="TextBox 34" descr="Refresh the 2 stale-evidence cases and resolve the 1 evidence-not-evaluable case."/>
          <p:cNvSpPr txBox="1"/>
          <p:nvPr/>
        </p:nvSpPr>
        <p:spPr>
          <a:xfrm>
            <a:off x="5971032" y="2313432"/>
            <a:ext cx="5065776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Refresh the 2 stale-evidence cases and resolve the 1 evidence-not-evaluable case.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2907791"/>
            <a:ext cx="5394960" cy="914400"/>
          </a:xfrm>
          <a:prstGeom prst="roundRect">
            <a:avLst/>
          </a:prstGeom>
          <a:solidFill>
            <a:srgbClr val="FFEAEA"/>
          </a:solidFill>
          <a:ln>
            <a:solidFill>
              <a:srgbClr val="FF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 descr="Priority 2 — Close risk uncertainty"/>
          <p:cNvSpPr txBox="1"/>
          <p:nvPr/>
        </p:nvSpPr>
        <p:spPr>
          <a:xfrm>
            <a:off x="5971032" y="3017520"/>
            <a:ext cx="5065776" cy="2651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1">
                <a:solidFill>
                  <a:srgbClr val="142A4A"/>
                </a:solidFill>
                <a:latin typeface="Arial"/>
              </a:rPr>
              <a:t>Priority 2 — Close risk uncertainty</a:t>
            </a:r>
          </a:p>
        </p:txBody>
      </p:sp>
      <p:sp>
        <p:nvSpPr>
          <p:cNvPr id="38" name="TextBox 37" descr="Resolve the 4 residual-risk conclusions that remain not evaluable, starting with areas already carrying high/critical risk."/>
          <p:cNvSpPr txBox="1"/>
          <p:nvPr/>
        </p:nvSpPr>
        <p:spPr>
          <a:xfrm>
            <a:off x="5971032" y="3346703"/>
            <a:ext cx="5065776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Resolve the 4 residual-risk conclusions that remain not evaluable, starting with areas already carrying high/critical risk.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941063"/>
            <a:ext cx="5394960" cy="914400"/>
          </a:xfrm>
          <a:prstGeom prst="roundRect">
            <a:avLst/>
          </a:prstGeom>
          <a:solidFill>
            <a:srgbClr val="FFF7DC"/>
          </a:solidFill>
          <a:ln>
            <a:solidFill>
              <a:srgbClr val="FFF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 descr="Priority 3 — Close operational exceptions"/>
          <p:cNvSpPr txBox="1"/>
          <p:nvPr/>
        </p:nvSpPr>
        <p:spPr>
          <a:xfrm>
            <a:off x="5971032" y="4050791"/>
            <a:ext cx="5065776" cy="2651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1">
                <a:solidFill>
                  <a:srgbClr val="142A4A"/>
                </a:solidFill>
                <a:latin typeface="Arial"/>
              </a:rPr>
              <a:t>Priority 3 — Close operational exceptions</a:t>
            </a:r>
          </a:p>
        </p:txBody>
      </p:sp>
      <p:sp>
        <p:nvSpPr>
          <p:cNvPr id="41" name="TextBox 40" descr="Address the 1 overdue management action and monitor the 1 unmapped assurance test explicitly."/>
          <p:cNvSpPr txBox="1"/>
          <p:nvPr/>
        </p:nvSpPr>
        <p:spPr>
          <a:xfrm>
            <a:off x="5971032" y="4379975"/>
            <a:ext cx="5065776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192334"/>
                </a:solidFill>
                <a:latin typeface="Arial"/>
              </a:rPr>
              <a:t>Address the 1 overdue management action and monitor the 1 unmapped assurance test explicitly.</a:t>
            </a:r>
          </a:p>
        </p:txBody>
      </p:sp>
      <p:sp>
        <p:nvSpPr>
          <p:cNvPr id="42" name="TextBox 41" descr="Governed publication inputs preserve KPI definitions. Native slide navigation links to HTML/Tableau for interactive filtering."/>
          <p:cNvSpPr txBox="1"/>
          <p:nvPr/>
        </p:nvSpPr>
        <p:spPr>
          <a:xfrm>
            <a:off x="658368" y="4334256"/>
            <a:ext cx="4727448" cy="5486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00" b="0">
                <a:solidFill>
                  <a:srgbClr val="5C6C82"/>
                </a:solidFill>
                <a:latin typeface="Arial"/>
              </a:rPr>
              <a:t>Governed publication inputs preserve KPI definitions. Native slide navigation links to HTML/Tableau for interactive filtering.</a:t>
            </a:r>
          </a:p>
        </p:txBody>
      </p:sp>
      <p:sp>
        <p:nvSpPr>
          <p:cNvPr id="43" name="TextBox 42" descr="Illustrative synthetic enterprise-assurance dataset and methodology; not Experian internal data or methodology."/>
          <p:cNvSpPr txBox="1"/>
          <p:nvPr/>
        </p:nvSpPr>
        <p:spPr>
          <a:xfrm>
            <a:off x="658368" y="5797296"/>
            <a:ext cx="10543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100" b="0">
                <a:solidFill>
                  <a:srgbClr val="5C6C82"/>
                </a:solidFill>
                <a:latin typeface="Arial"/>
              </a:rPr>
              <a:t>Illustrative synthetic enterprise-assurance dataset and methodology; not Experian internal data or methodology.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658368" y="5230368"/>
            <a:ext cx="2240280" cy="310896"/>
          </a:xfrm>
          <a:prstGeom prst="roundRect">
            <a:avLst/>
          </a:prstGeom>
          <a:solidFill>
            <a:srgbClr val="142A4A"/>
          </a:solidFill>
          <a:ln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Back to executive snapshot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3145536" y="5230368"/>
            <a:ext cx="23317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interactive analytics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" y="6318504"/>
            <a:ext cx="10863072" cy="16459"/>
          </a:xfrm>
          <a:prstGeom prst="rect">
            <a:avLst/>
          </a:prstGeom>
          <a:solidFill>
            <a:srgbClr val="D6DEE9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>
            <a:hlinkClick action="ppaction://hlinksldjump" r:id="rId8"/>
          </p:cNvPr>
          <p:cNvSpPr/>
          <p:nvPr/>
        </p:nvSpPr>
        <p:spPr>
          <a:xfrm>
            <a:off x="640080" y="6409944"/>
            <a:ext cx="96012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◀ Previous</a:t>
            </a:r>
          </a:p>
        </p:txBody>
      </p:sp>
      <p:sp>
        <p:nvSpPr>
          <p:cNvPr id="48" name="Rounded Rectangle 47">
            <a:hlinkClick action="ppaction://hlinksldjump" r:id="rId2"/>
          </p:cNvPr>
          <p:cNvSpPr/>
          <p:nvPr/>
        </p:nvSpPr>
        <p:spPr>
          <a:xfrm>
            <a:off x="1700784" y="6409944"/>
            <a:ext cx="6400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Home</a:t>
            </a:r>
          </a:p>
        </p:txBody>
      </p:sp>
      <p:sp>
        <p:nvSpPr>
          <p:cNvPr id="49" name="Rounded Rectangle 48">
            <a:hlinkClick action="ppaction://hlinksldjump" r:id="rId8"/>
          </p:cNvPr>
          <p:cNvSpPr/>
          <p:nvPr/>
        </p:nvSpPr>
        <p:spPr>
          <a:xfrm>
            <a:off x="2441448" y="6409944"/>
            <a:ext cx="77724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Explore</a:t>
            </a:r>
          </a:p>
        </p:txBody>
      </p:sp>
      <p:sp>
        <p:nvSpPr>
          <p:cNvPr id="50" name="Rounded Rectangle 49">
            <a:hlinkClick action="ppaction://hlinksldjump" r:id="rId9"/>
          </p:cNvPr>
          <p:cNvSpPr/>
          <p:nvPr/>
        </p:nvSpPr>
        <p:spPr>
          <a:xfrm>
            <a:off x="3319272" y="6409944"/>
            <a:ext cx="86868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D6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42A4A"/>
                </a:solidFill>
                <a:latin typeface="Arial"/>
              </a:rPr>
              <a:t>Next ▶</a:t>
            </a:r>
          </a:p>
        </p:txBody>
      </p:sp>
      <p:sp>
        <p:nvSpPr>
          <p:cNvPr id="51" name="Rounded Rectangle 50">
            <a:hlinkClick r:id="rId11"/>
          </p:cNvPr>
          <p:cNvSpPr/>
          <p:nvPr/>
        </p:nvSpPr>
        <p:spPr>
          <a:xfrm>
            <a:off x="790956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HTML</a:t>
            </a:r>
          </a:p>
        </p:txBody>
      </p:sp>
      <p:sp>
        <p:nvSpPr>
          <p:cNvPr id="52" name="Rounded Rectangle 51">
            <a:hlinkClick r:id="rId12"/>
          </p:cNvPr>
          <p:cNvSpPr/>
          <p:nvPr/>
        </p:nvSpPr>
        <p:spPr>
          <a:xfrm>
            <a:off x="9418320" y="6409944"/>
            <a:ext cx="1417320" cy="310896"/>
          </a:xfrm>
          <a:prstGeom prst="roundRect">
            <a:avLst/>
          </a:prstGeom>
          <a:solidFill>
            <a:srgbClr val="E8F0FF"/>
          </a:solidFill>
          <a:ln>
            <a:solidFill>
              <a:srgbClr val="E8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E40AF"/>
                </a:solidFill>
                <a:latin typeface="Arial"/>
              </a:rPr>
              <a:t>Open Tableau</a:t>
            </a:r>
          </a:p>
        </p:txBody>
      </p:sp>
      <p:sp>
        <p:nvSpPr>
          <p:cNvPr id="53" name="TextBox 52" descr="Validated publication • 2026-09-v1"/>
          <p:cNvSpPr txBox="1"/>
          <p:nvPr/>
        </p:nvSpPr>
        <p:spPr>
          <a:xfrm>
            <a:off x="4389120" y="6464808"/>
            <a:ext cx="3246120" cy="1463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/>
            <a:r>
              <a:rPr sz="680" b="0">
                <a:solidFill>
                  <a:srgbClr val="5C6C82"/>
                </a:solidFill>
                <a:latin typeface="Arial"/>
              </a:rPr>
              <a:t>Validated publication • 2026-09-v1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