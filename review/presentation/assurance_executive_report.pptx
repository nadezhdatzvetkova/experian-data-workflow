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 THIS REPORT</a:t>
            </a:r>
          </a:p>
          <a:p>
            <a:r>
              <a:t>Illustrative synthetic enterprise-assurance data, controls, methodology and policy; not Experian internal data, controls, methodology or policy.</a:t>
            </a:r>
          </a:p>
          <a:p>
            <a:r>
              <a:t>Reporting period: 2026-09</a:t>
            </a:r>
          </a:p>
          <a:p>
            <a:r>
              <a:t>Assurance tests: 9 count. One assurance test per test ID and reporting period. Numerator: all assurance test rows. Denominator/context: not_applicable_count_metric. Count reflects only the trusted assurance population for the selected scope.</a:t>
            </a:r>
          </a:p>
          <a:p>
            <a:r>
              <a:t>High or critical residual risk: 2 count. One assurance test per test ID and reporting period. Numerator: rows where residual_risk is HIGH or CRITICAL. Denominator/context: all assurance test rows. Residual risk is illustrative and only evaluable where the configured evidence basis is sufficient.</a:t>
            </a:r>
          </a:p>
          <a:p>
            <a:r>
              <a:t>Insufficient evidence: 2 count. One assurance test per test ID and reporting period. Numerator: rows where evidence_sufficiency = INSUFFICIENT. Denominator/context: all assurance test rows. Insufficient evidence means the available basis is inadequate for the configured assurance conclusion.</a:t>
            </a:r>
          </a:p>
          <a:p>
            <a:r>
              <a:t>Not evaluable evidence: 1 count. One assurance test per test ID and reporting period. Numerator: rows where evidence_sufficiency = NOT_EVALUABLE. Denominator/context: all assurance test rows. NOT_EVALUABLE must remain distinct from failure and must not be interpreted as ineffective control performance.</a:t>
            </a:r>
          </a:p>
          <a:p>
            <a:r>
              <a:t>Not evaluable residual risk: 4 count. One assurance test per test ID and reporting period. Numerator: rows where residual_risk = NOT_EVALUABLE. Denominator/context: all assurance test rows. NOT_EVALUABLE represents insufficient decision basis and must not be converted into an assumed risk rating.</a:t>
            </a:r>
          </a:p>
          <a:p>
            <a:r>
              <a:t>Open findings: 4 count. One finding per finding ID. Numerator: rows where status is OPEN or IN_PROGRESS. Denominator/context: all trusted finding rows. This metric reflects finding workflow status only and does not measure severity or remediation effectiveness.</a:t>
            </a:r>
          </a:p>
          <a:p>
            <a:r>
              <a:t>Overdue actions: 1 count. One management action per action ID. Numerator: rows where overdue = true. Denominator/context: all trusted remediation action rows. Overdue status follows the configured as-of date, open-status vocabulary, and target-date rule.</a:t>
            </a:r>
          </a:p>
          <a:p>
            <a:r>
              <a:t>Partial evidence: 1 count. One assurance test per test ID and reporting period. Numerator: rows where evidence_sufficiency = PARTIAL. Denominator/context: all assurance test rows. Partial evidence reflects configured coverage and evidence rules, not a control-failure conclusion.</a:t>
            </a:r>
          </a:p>
          <a:p>
            <a:r>
              <a:t>Repeat findings: 1 count. One finding per finding ID. Numerator: rows where repeat_finding = true. Denominator/context: all trusted finding rows. Repeat classification uses the configured stable recurrence key and chronology requirements; fuzzy title matching is not used.</a:t>
            </a:r>
          </a:p>
          <a:p>
            <a:r>
              <a:t>Stale evidence: 2 count. One assurance test per test ID and reporting period. Numerator: rows where freshness_state = STALE. Denominator/context: all assurance test rows. Staleness is determined from the configured as-of date and evidence-freshness rule.</a:t>
            </a:r>
          </a:p>
          <a:p>
            <a:r>
              <a:t>Sufficient evidence: 5 count. One assurance test per test ID and reporting period. Numerator: rows where evidence_sufficiency = SUFFICIENT. Denominator/context: all assurance test rows. Sufficiency follows the configured synthetic assurance methodology and does not imply control effectiveness.</a:t>
            </a:r>
          </a:p>
          <a:p>
            <a:r>
              <a:t>Unmapped tests: 1 count. One assurance test per test ID and reporting period. Numerator: rows where identity_status = UNMAPPED. Denominator/context: all assurance test rows. Unmapped tests are retained explicitly and must not be assigned unsupported enterprise context.</a:t>
            </a:r>
          </a:p>
          <a:p>
            <a:r>
              <a:t>STATE MEANINGS</a:t>
            </a:r>
          </a:p>
          <a:p>
            <a:r>
              <a:t>INSUFFICIENT: After reconciliation and mapping checks, stale evidence or zero tested population prevents a sufficient assurance basis.</a:t>
            </a:r>
          </a:p>
          <a:p>
            <a:r>
              <a:t>NOT_EVALUABLE: The relevant evaluation lacks a valid basis: failed reconciliation, unresolved identity, future evidence or missing expected population can prevent evidence evaluation; insufficient assurance basis or missing inherent risk prevents residual-risk evaluation.</a:t>
            </a:r>
          </a:p>
          <a:p>
            <a:r>
              <a:t>NOT_TESTED: Mapped source records were not evaluated; retain them in population reconciliation.</a:t>
            </a:r>
          </a:p>
          <a:p>
            <a:r>
              <a:t>PARTIAL: Reconciliation passes, identity is mapped and evidence is current, with nonzero testing below full expected coverage; this is not automatically a failed control.</a:t>
            </a:r>
          </a:p>
          <a:p>
            <a:r>
              <a:t>STALE: Evidence is older than 90 days old at the governed as-of date. Freshness overlaps evidence-sufficiency states; future evidence is NOT_EVALUABLE.</a:t>
            </a:r>
          </a:p>
          <a:p>
            <a:r>
              <a:t>SUFFICIENT: Reconciliation passes, identity is mapped, evidence is current and tested population meets configured full coverage; evidence adequacy does not imply control effectiveness.</a:t>
            </a:r>
          </a:p>
          <a:p>
            <a:r>
              <a:t>UNMAPPED: No resolved enterprise identity. Retain the test and its source records explicitly.</a:t>
            </a:r>
          </a:p>
          <a:p>
            <a:r>
              <a:t>residual_risk: A residual-risk conclusion requires SUFFICIENT evidence and the configured inherent-risk/control-effectiveness matrix.</a:t>
            </a:r>
          </a:p>
          <a:p>
            <a:r>
              <a:t>IMPLEMENTATION CHOICES</a:t>
            </a:r>
          </a:p>
          <a:p>
            <a:r>
              <a:t>DuckDB: Independent SQL checks against the governed Python results.</a:t>
            </a:r>
          </a:p>
          <a:p>
            <a:r>
              <a:t>HTML / Plotly: Portable interactive exploration with embedded chart code.</a:t>
            </a:r>
          </a:p>
          <a:p>
            <a:r>
              <a:t>PowerPoint: An executive narrative and navigation layer.</a:t>
            </a:r>
          </a:p>
          <a:p>
            <a:r>
              <a:t>Python / Pandas: Readable deterministic processing and typed analytical tables.</a:t>
            </a:r>
          </a:p>
          <a:p>
            <a:r>
              <a:t>Tableau: A packaged BI workbook over the same governed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1.xml"/><Relationship Id="rId11" Type="http://schemas.openxmlformats.org/officeDocument/2006/relationships/hyperlink" Target="../html/assurance_dashboard.html" TargetMode="External"/><Relationship Id="rId12" Type="http://schemas.openxmlformats.org/officeDocument/2006/relationships/hyperlink" Target="../tableau/assurance_dashboard.twb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2.xml"/><Relationship Id="rId11" Type="http://schemas.openxmlformats.org/officeDocument/2006/relationships/hyperlink" Target="../html/reports/executive_assurance.html" TargetMode="External"/><Relationship Id="rId12" Type="http://schemas.openxmlformats.org/officeDocument/2006/relationships/hyperlink" Target="../html/charts/evidence_sufficiency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3.xml"/><Relationship Id="rId11" Type="http://schemas.openxmlformats.org/officeDocument/2006/relationships/hyperlink" Target="../html/reports/risk_and_evidence.html" TargetMode="External"/><Relationship Id="rId12" Type="http://schemas.openxmlformats.org/officeDocument/2006/relationships/hyperlink" Target="../html/charts/residual_risk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4.xml"/><Relationship Id="rId11" Type="http://schemas.openxmlformats.org/officeDocument/2006/relationships/hyperlink" Target="../html/reports/findings_and_actions.html" TargetMode="External"/><Relationship Id="rId12" Type="http://schemas.openxmlformats.org/officeDocument/2006/relationships/hyperlink" Target="../html/charts/remediation_actions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5.xml"/><Relationship Id="rId11" Type="http://schemas.openxmlformats.org/officeDocument/2006/relationships/hyperlink" Target="../html/reports/data_trust.html" TargetMode="External"/><Relationship Id="rId12" Type="http://schemas.openxmlformats.org/officeDocument/2006/relationships/hyperlink" Target="../html/charts/freshness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6.xml"/><Relationship Id="rId11" Type="http://schemas.openxmlformats.org/officeDocument/2006/relationships/hyperlink" Target="../html/reports/data_trust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hyperlink" Target="../html/assurance_dashboard.html" TargetMode="External"/><Relationship Id="rId11" Type="http://schemas.openxmlformats.org/officeDocument/2006/relationships/hyperlink" Target="../tableau/assurance_dashboard.twbx" TargetMode="External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notesSlide" Target="../notesSlides/notesSlide8.xml"/><Relationship Id="rId11" Type="http://schemas.openxmlformats.org/officeDocument/2006/relationships/hyperlink" Target="../html/assurance_dashboard.html" TargetMode="External"/><Relationship Id="rId12" Type="http://schemas.openxmlformats.org/officeDocument/2006/relationships/hyperlink" Target="../tableau/assurance_dashboard.twb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Executive Assurance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Decision-ready view of the current validated assurance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01/08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64208"/>
            <a:ext cx="192024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CURRENT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920240"/>
            <a:ext cx="429768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800" b="1">
                <a:solidFill>
                  <a:srgbClr val="142A4A"/>
                </a:solidFill>
                <a:latin typeface="Arial"/>
              </a:rPr>
              <a:t>Three signals matter most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395728"/>
            <a:ext cx="3383280" cy="153619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2523744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871216"/>
            <a:ext cx="309067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Coverage is usable but 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236976"/>
            <a:ext cx="3090672" cy="5852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5 of 9 tests have sufficient evidence. 2 rely on stale evidence and 1 remain not evaluable for evidence sufficiency.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2395728"/>
            <a:ext cx="3383280" cy="1536192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79976" y="2523744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C2626"/>
                </a:solidFill>
                <a:latin typeface="Arial"/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2871216"/>
            <a:ext cx="309067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Residual-risk visibility is 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3236976"/>
            <a:ext cx="3090672" cy="5852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2 tests are high/critical residual risk while 4 cannot yet support a residual-risk conclusion from the available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08975" y="2395728"/>
            <a:ext cx="3383280" cy="1536192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79" y="2523744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97706"/>
                </a:solidFill>
                <a:latin typeface="Arial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871216"/>
            <a:ext cx="309067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Follow-up is concentrated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236976"/>
            <a:ext cx="3090672" cy="5852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The current population contains 4 open findings, 1 repeat finding and 1 overdue action, enabling targeted rather than broad remediation focus.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24528"/>
            <a:ext cx="51206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30" b="1">
                <a:solidFill>
                  <a:srgbClr val="5C6C82"/>
                </a:solidFill>
                <a:latin typeface="Arial"/>
              </a:rPr>
              <a:t>CLICK A KPI TO DRILL INTO THE RELEVANT SECTION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658368" y="4553712"/>
            <a:ext cx="16276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4553712"/>
            <a:ext cx="50292" cy="932688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663440"/>
            <a:ext cx="1335024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102352"/>
            <a:ext cx="1335024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Assurance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" y="523951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2463EB"/>
                </a:solidFill>
                <a:latin typeface="Arial"/>
              </a:rPr>
              <a:t>VIEW ›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2450591" y="4553712"/>
            <a:ext cx="16276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450591" y="4553712"/>
            <a:ext cx="50292" cy="93268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15184" y="4663440"/>
            <a:ext cx="1335024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5184" y="5102352"/>
            <a:ext cx="1335024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Sufficient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9856" y="523951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16A34A"/>
                </a:solidFill>
                <a:latin typeface="Arial"/>
              </a:rPr>
              <a:t>VIEW ›</a:t>
            </a:r>
          </a:p>
        </p:txBody>
      </p:sp>
      <p:sp>
        <p:nvSpPr>
          <p:cNvPr id="41" name="Rounded Rectangle 40">
            <a:hlinkClick action="ppaction://hlinksldjump" r:id="rId3"/>
          </p:cNvPr>
          <p:cNvSpPr/>
          <p:nvPr/>
        </p:nvSpPr>
        <p:spPr>
          <a:xfrm>
            <a:off x="4242816" y="4553712"/>
            <a:ext cx="16276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42816" y="4553712"/>
            <a:ext cx="50292" cy="93268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7407" y="4663440"/>
            <a:ext cx="1335024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7" y="5102352"/>
            <a:ext cx="1335024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Stale 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23951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D97706"/>
                </a:solidFill>
                <a:latin typeface="Arial"/>
              </a:rPr>
              <a:t>VIEW ›</a:t>
            </a:r>
          </a:p>
        </p:txBody>
      </p:sp>
      <p:sp>
        <p:nvSpPr>
          <p:cNvPr id="46" name="Rounded Rectangle 45">
            <a:hlinkClick action="ppaction://hlinksldjump" r:id="rId4"/>
          </p:cNvPr>
          <p:cNvSpPr/>
          <p:nvPr/>
        </p:nvSpPr>
        <p:spPr>
          <a:xfrm>
            <a:off x="6035040" y="4553712"/>
            <a:ext cx="16276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35040" y="4553712"/>
            <a:ext cx="50292" cy="93268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1" y="4663440"/>
            <a:ext cx="1335024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5102352"/>
            <a:ext cx="1335024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High / critical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04303" y="523951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DC2626"/>
                </a:solidFill>
                <a:latin typeface="Arial"/>
              </a:rPr>
              <a:t>VIEW ›</a:t>
            </a:r>
          </a:p>
        </p:txBody>
      </p:sp>
      <p:sp>
        <p:nvSpPr>
          <p:cNvPr id="51" name="Rounded Rectangle 50">
            <a:hlinkClick action="ppaction://hlinksldjump" r:id="rId5"/>
          </p:cNvPr>
          <p:cNvSpPr/>
          <p:nvPr/>
        </p:nvSpPr>
        <p:spPr>
          <a:xfrm>
            <a:off x="7827264" y="4553712"/>
            <a:ext cx="16276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827264" y="4553712"/>
            <a:ext cx="50292" cy="932688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6" y="4663440"/>
            <a:ext cx="1335024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1856" y="5102352"/>
            <a:ext cx="1335024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Open findings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96528" y="523951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7E22CE"/>
                </a:solidFill>
                <a:latin typeface="Arial"/>
              </a:rPr>
              <a:t>VIEW ›</a:t>
            </a:r>
          </a:p>
        </p:txBody>
      </p:sp>
      <p:sp>
        <p:nvSpPr>
          <p:cNvPr id="56" name="Rounded Rectangle 55">
            <a:hlinkClick action="ppaction://hlinksldjump" r:id="rId5"/>
          </p:cNvPr>
          <p:cNvSpPr/>
          <p:nvPr/>
        </p:nvSpPr>
        <p:spPr>
          <a:xfrm>
            <a:off x="9619488" y="4553712"/>
            <a:ext cx="1627632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19488" y="4553712"/>
            <a:ext cx="50292" cy="93268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4663440"/>
            <a:ext cx="1335024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5102352"/>
            <a:ext cx="1335024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Overdue 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88752" y="523951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DC2626"/>
                </a:solidFill>
                <a:latin typeface="Arial"/>
              </a:rPr>
              <a:t>VIEW 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879592"/>
            <a:ext cx="1054303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Arial"/>
              </a:rPr>
              <a:t>Illustrative synthetic data and methodology; not Experian internal.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>
            <a:hlinkClick action="ppaction://hlinksldjump" r:id="rId2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64" name="Rounded Rectangle 63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65" name="Rounded Rectangle 64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66" name="Rounded Rectangle 65">
            <a:hlinkClick action="ppaction://hlinksldjump" r:id="rId3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67" name="Rounded Rectangle 66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HTML dashboard</a:t>
            </a:r>
          </a:p>
        </p:txBody>
      </p:sp>
      <p:sp>
        <p:nvSpPr>
          <p:cNvPr id="68" name="Rounded Rectangle 67">
            <a:hlinkClick r:id="rId12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Tableau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Evidence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How much of the assurance conclusion is supported by usable, current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02/08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64208"/>
            <a:ext cx="22860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EVIDENCE SUFFICIENCY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938528"/>
            <a:ext cx="539496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rial"/>
              </a:rPr>
              <a:t>5/9 tests currently have sufficient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23160"/>
            <a:ext cx="3683000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87168"/>
            <a:ext cx="36830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1368" y="2423160"/>
            <a:ext cx="736600" cy="38404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1368" y="2487168"/>
            <a:ext cx="736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7967" y="2423160"/>
            <a:ext cx="1473200" cy="38404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7967" y="2487168"/>
            <a:ext cx="14732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1167" y="2423160"/>
            <a:ext cx="736600" cy="384048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1167" y="2487168"/>
            <a:ext cx="736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2953512"/>
            <a:ext cx="91440" cy="9144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2898648"/>
            <a:ext cx="128016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20" b="0">
                <a:solidFill>
                  <a:srgbClr val="5C6C82"/>
                </a:solidFill>
                <a:latin typeface="Arial"/>
              </a:rPr>
              <a:t>Sufficient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75688" y="2953512"/>
            <a:ext cx="91440" cy="914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12848" y="2898648"/>
            <a:ext cx="128016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20" b="0">
                <a:solidFill>
                  <a:srgbClr val="5C6C82"/>
                </a:solidFill>
                <a:latin typeface="Arial"/>
              </a:rPr>
              <a:t>Partial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2953512"/>
            <a:ext cx="91440" cy="914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2898648"/>
            <a:ext cx="128016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20" b="0">
                <a:solidFill>
                  <a:srgbClr val="5C6C82"/>
                </a:solidFill>
                <a:latin typeface="Arial"/>
              </a:rPr>
              <a:t>Insufficient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10328" y="2953512"/>
            <a:ext cx="91440" cy="91440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2898648"/>
            <a:ext cx="128016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20" b="0">
                <a:solidFill>
                  <a:srgbClr val="5C6C82"/>
                </a:solidFill>
                <a:latin typeface="Arial"/>
              </a:rPr>
              <a:t>Not evaluable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755648"/>
            <a:ext cx="3566160" cy="173736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81544" y="1883664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INTERPRETATION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1544" y="2231136"/>
            <a:ext cx="327355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Evidence quality is the limiting factor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544" y="2596896"/>
            <a:ext cx="3273552" cy="78638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The main constraint is not test volume. Stale, insufficient and not-evaluable evidence weakens the confidence of downstream control and residual-risk conclusions.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3685032"/>
            <a:ext cx="166420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3685032"/>
            <a:ext cx="50292" cy="93268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1" y="3794760"/>
            <a:ext cx="137160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9831" y="4233672"/>
            <a:ext cx="1371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Tests using stale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37083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D97706"/>
                </a:solidFill>
                <a:latin typeface="Arial"/>
              </a:rPr>
              <a:t>VIEW 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73184" y="3685032"/>
            <a:ext cx="1728216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73184" y="3685032"/>
            <a:ext cx="50292" cy="932688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37776" y="3794760"/>
            <a:ext cx="1435607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7776" y="4233672"/>
            <a:ext cx="1435607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Evidence not evaluable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3032" y="437083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7E22CE"/>
                </a:solidFill>
                <a:latin typeface="Arial"/>
              </a:rPr>
              <a:t>VIEW 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187952"/>
            <a:ext cx="662940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2" y="4315968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NEXT MOVE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4663440"/>
            <a:ext cx="633679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Repair evidence before broad retesting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5029200"/>
            <a:ext cx="6336792" cy="31089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Refreshing stale evidence and resolving not-evaluable cases should improve both assurance confidence and the interpretability of residual risk without unnecessarily expanding scope.</a:t>
            </a:r>
          </a:p>
        </p:txBody>
      </p:sp>
      <p:sp>
        <p:nvSpPr>
          <p:cNvPr id="52" name="Rounded Rectangle 51">
            <a:hlinkClick action="ppaction://hlinksldjump" r:id="rId4"/>
          </p:cNvPr>
          <p:cNvSpPr/>
          <p:nvPr/>
        </p:nvSpPr>
        <p:spPr>
          <a:xfrm>
            <a:off x="7635240" y="4892040"/>
            <a:ext cx="3566160" cy="310896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Jump to risk implications 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925312"/>
            <a:ext cx="10543032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Arial"/>
              </a:rPr>
              <a:t>How to read this: counts are tests; freshness overlaps sufficiency. Full definitions are in Notes and HTML Data &amp; Metrics.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56" name="Rounded Rectangle 55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57" name="Rounded Rectangle 56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58" name="Rounded Rectangle 57">
            <a:hlinkClick action="ppaction://hlinksldjump" r:id="rId4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59" name="Rounded Rectangle 58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Evidence report</a:t>
            </a:r>
          </a:p>
        </p:txBody>
      </p:sp>
      <p:sp>
        <p:nvSpPr>
          <p:cNvPr id="60" name="Rounded Rectangle 59">
            <a:hlinkClick r:id="rId12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Evidence chart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Risk &amp; Control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Where risk pressure and evidence limitations concentrate by domain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03/08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64208"/>
            <a:ext cx="1828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DOMAIN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920240"/>
            <a:ext cx="53035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rial"/>
              </a:rPr>
              <a:t>Assurance volume and pressure by risk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468880"/>
            <a:ext cx="17830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19" b="0">
                <a:solidFill>
                  <a:srgbClr val="192334"/>
                </a:solidFill>
                <a:latin typeface="Arial"/>
              </a:rPr>
              <a:t>Access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32887" y="2496312"/>
            <a:ext cx="2926080" cy="128016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32887" y="2496312"/>
            <a:ext cx="2926080" cy="128016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32120" y="2432304"/>
            <a:ext cx="329184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07792"/>
            <a:ext cx="17830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19" b="0">
                <a:solidFill>
                  <a:srgbClr val="192334"/>
                </a:solidFill>
                <a:latin typeface="Arial"/>
              </a:rPr>
              <a:t>Change &amp;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2887" y="2935224"/>
            <a:ext cx="2926080" cy="128016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32887" y="2935224"/>
            <a:ext cx="975360" cy="128016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32120" y="2871216"/>
            <a:ext cx="329184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17830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19" b="0">
                <a:solidFill>
                  <a:srgbClr val="192334"/>
                </a:solidFill>
                <a:latin typeface="Arial"/>
              </a:rPr>
              <a:t>Third Party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32887" y="3374136"/>
            <a:ext cx="2926080" cy="128016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32887" y="3374136"/>
            <a:ext cx="487680" cy="128016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32120" y="3310128"/>
            <a:ext cx="329184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929384"/>
            <a:ext cx="420624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DOMAIN SIGNAL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240279"/>
            <a:ext cx="214884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00" b="1">
                <a:solidFill>
                  <a:srgbClr val="5C6C82"/>
                </a:solidFill>
                <a:latin typeface="Arial"/>
              </a:rPr>
              <a:t>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2240279"/>
            <a:ext cx="658368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70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2240279"/>
            <a:ext cx="658368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700" b="1">
                <a:solidFill>
                  <a:srgbClr val="5C6C82"/>
                </a:solidFill>
                <a:latin typeface="Arial"/>
              </a:rPr>
              <a:t>Stale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240279"/>
            <a:ext cx="7315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700" b="1">
                <a:solidFill>
                  <a:srgbClr val="5C6C82"/>
                </a:solidFill>
                <a:latin typeface="Arial"/>
              </a:rPr>
              <a:t>High/Crit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496311"/>
            <a:ext cx="21488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70" b="0">
                <a:solidFill>
                  <a:srgbClr val="192334"/>
                </a:solidFill>
                <a:latin typeface="Arial"/>
              </a:rPr>
              <a:t>Access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31352" y="2468879"/>
            <a:ext cx="658368" cy="256032"/>
          </a:xfrm>
          <a:prstGeom prst="roundRect">
            <a:avLst/>
          </a:prstGeom>
          <a:solidFill>
            <a:srgbClr val="E5F9ED"/>
          </a:solidFill>
          <a:ln>
            <a:solidFill>
              <a:srgbClr val="E5F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6A34A"/>
                </a:solidFill>
                <a:latin typeface="Arial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62872" y="2468879"/>
            <a:ext cx="658368" cy="256032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97706"/>
                </a:solidFill>
                <a:latin typeface="Arial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94392" y="2468879"/>
            <a:ext cx="731520" cy="256032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C2626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916935"/>
            <a:ext cx="21488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70" b="0">
                <a:solidFill>
                  <a:srgbClr val="192334"/>
                </a:solidFill>
                <a:latin typeface="Arial"/>
              </a:rPr>
              <a:t>Change &amp; Integration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31352" y="2889503"/>
            <a:ext cx="658368" cy="256032"/>
          </a:xfrm>
          <a:prstGeom prst="roundRect">
            <a:avLst/>
          </a:prstGeom>
          <a:solidFill>
            <a:srgbClr val="E5F9ED"/>
          </a:solidFill>
          <a:ln>
            <a:solidFill>
              <a:srgbClr val="E5F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62872" y="2889503"/>
            <a:ext cx="658368" cy="256032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97706"/>
                </a:solidFill>
                <a:latin typeface="Arial"/>
              </a:rP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94392" y="2889503"/>
            <a:ext cx="731520" cy="256032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C262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337559"/>
            <a:ext cx="21488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70" b="0">
                <a:solidFill>
                  <a:srgbClr val="192334"/>
                </a:solidFill>
                <a:latin typeface="Arial"/>
              </a:rPr>
              <a:t>Third Party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31352" y="3310127"/>
            <a:ext cx="658368" cy="256032"/>
          </a:xfrm>
          <a:prstGeom prst="roundRect">
            <a:avLst/>
          </a:prstGeom>
          <a:solidFill>
            <a:srgbClr val="E5F9ED"/>
          </a:solidFill>
          <a:ln>
            <a:solidFill>
              <a:srgbClr val="E5F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6A34A"/>
                </a:solidFill>
                <a:latin typeface="Arial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62872" y="3310127"/>
            <a:ext cx="658368" cy="256032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97706"/>
                </a:solidFill>
                <a:latin typeface="Arial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94392" y="3310127"/>
            <a:ext cx="731520" cy="256032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C2626"/>
                </a:solidFill>
                <a:latin typeface="Arial"/>
              </a:rPr>
              <a:t>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462272"/>
            <a:ext cx="4892040" cy="1261872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55664" y="4590288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C2626"/>
                </a:solidFill>
                <a:latin typeface="Arial"/>
              </a:rPr>
              <a:t>ATTENTION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4937760"/>
            <a:ext cx="4599431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Highest displayed attention signal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5303520"/>
            <a:ext cx="4599431" cy="31089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Access Management has 1 stale-evidence and 2 high/critical residual-risk cases in the governed domain summary.</a:t>
            </a:r>
          </a:p>
        </p:txBody>
      </p:sp>
      <p:sp>
        <p:nvSpPr>
          <p:cNvPr id="51" name="Rounded Rectangle 50">
            <a:hlinkClick action="ppaction://hlinksldjump" r:id="rId8"/>
          </p:cNvPr>
          <p:cNvSpPr/>
          <p:nvPr/>
        </p:nvSpPr>
        <p:spPr>
          <a:xfrm>
            <a:off x="658368" y="5193792"/>
            <a:ext cx="5257800" cy="310896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Open attention items 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>
            <a:hlinkClick action="ppaction://hlinksldjump" r:id="rId3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54" name="Rounded Rectangle 53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55" name="Rounded Rectangle 54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56" name="Rounded Rectangle 55">
            <a:hlinkClick action="ppaction://hlinksldjump" r:id="rId5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57" name="Rounded Rectangle 56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Risk report</a:t>
            </a:r>
          </a:p>
        </p:txBody>
      </p:sp>
      <p:sp>
        <p:nvSpPr>
          <p:cNvPr id="58" name="Rounded Rectangle 57">
            <a:hlinkClick r:id="rId12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Residual 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Findings &amp; Remediation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What remains open, recurring or overdue and where management follow-up should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04/08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746504"/>
            <a:ext cx="1874519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1746504"/>
            <a:ext cx="50292" cy="932688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1856231"/>
            <a:ext cx="1581911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295144"/>
            <a:ext cx="1581911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Open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432304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7E22CE"/>
                </a:solidFill>
                <a:latin typeface="Arial"/>
              </a:rPr>
              <a:t>VIEW 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5768" y="1746504"/>
            <a:ext cx="1874519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15768" y="1746504"/>
            <a:ext cx="50292" cy="93268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856231"/>
            <a:ext cx="1581911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2295144"/>
            <a:ext cx="1581911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Repeat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432304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D97706"/>
                </a:solidFill>
                <a:latin typeface="Arial"/>
              </a:rPr>
              <a:t>VIEW 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73168" y="1746504"/>
            <a:ext cx="1874519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3168" y="1746504"/>
            <a:ext cx="50292" cy="93268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1856231"/>
            <a:ext cx="1581911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2295144"/>
            <a:ext cx="1581911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Overdue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432304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DC2626"/>
                </a:solidFill>
                <a:latin typeface="Arial"/>
              </a:rPr>
              <a:t>VIEW 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2864" y="1746504"/>
            <a:ext cx="4288536" cy="1417320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59168" y="1874519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D97706"/>
                </a:solidFill>
                <a:latin typeface="Arial"/>
              </a:rPr>
              <a:t>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2221991"/>
            <a:ext cx="3995928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Persistence matters more than volume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2587752"/>
            <a:ext cx="3995928" cy="4663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A repeat finding and an overdue action are escalation signals: they indicate persistence or delayed remediation rather than simply a larger inventory.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072384"/>
            <a:ext cx="27432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CURRENT MANAGEMENT ACTIONS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8368" y="3383280"/>
          <a:ext cx="674827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54"/>
                <a:gridCol w="1349654"/>
                <a:gridCol w="1349654"/>
                <a:gridCol w="1349654"/>
                <a:gridCol w="1349656"/>
              </a:tblGrid>
              <a:tr h="284770">
                <a:tc>
                  <a:txBody>
                    <a:bodyPr/>
                    <a:lstStyle/>
                    <a:p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36576" marR="36576" marT="22860" marB="22860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36576" marR="36576" marT="22860" marB="22860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6576" marR="36576" marT="22860" marB="22860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Overdue</a:t>
                      </a:r>
                    </a:p>
                  </a:txBody>
                  <a:tcPr marL="36576" marR="36576" marT="22860" marB="22860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Days</a:t>
                      </a:r>
                    </a:p>
                  </a:txBody>
                  <a:tcPr marL="36576" marR="36576" marT="22860" marB="22860">
                    <a:solidFill>
                      <a:srgbClr val="142A4A"/>
                    </a:solidFill>
                  </a:tcPr>
                </a:tc>
              </a:tr>
              <a:tr h="284770"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ACT_DATA_001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FND_DATA_001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OPEN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84770"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ACT_IAM_001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FND_IAM_001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CLOSED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</a:tr>
              <a:tr h="284770"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ACT_TP_CLOSED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FND_TP_001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CLOSED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84770"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ACT_TP_DUE_TODAY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FND_TP_001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OPEN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</a:tr>
              <a:tr h="284770"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ACT_TP_FUTURE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FND_TP_001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IN_PROGRESS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22860" marB="22860">
                    <a:solidFill>
                      <a:srgbClr val="FFFFFF"/>
                    </a:solidFill>
                  </a:tcPr>
                </a:tc>
              </a:tr>
              <a:tr h="284772"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ACT_TP_OVERDUE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FND_TP_001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OPEN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40" b="0">
                          <a:solidFill>
                            <a:srgbClr val="19233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7708392" y="3383280"/>
            <a:ext cx="3493008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54696" y="3511296"/>
            <a:ext cx="118872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3858768"/>
            <a:ext cx="320040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20" b="1">
                <a:solidFill>
                  <a:srgbClr val="142A4A"/>
                </a:solidFill>
                <a:latin typeface="Arial"/>
              </a:rPr>
              <a:t>Closure is not just an administrative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54696" y="4224528"/>
            <a:ext cx="3200400" cy="36575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40" b="0">
                <a:solidFill>
                  <a:srgbClr val="192334"/>
                </a:solidFill>
                <a:latin typeface="Arial"/>
              </a:rPr>
              <a:t>Where available, closure-validation evidence should remain linked to action status so CLOSED does not become a substitute for evidence that remediation actually worked.</a:t>
            </a:r>
          </a:p>
        </p:txBody>
      </p:sp>
      <p:sp>
        <p:nvSpPr>
          <p:cNvPr id="41" name="Rounded Rectangle 40">
            <a:hlinkClick action="ppaction://hlinksldjump" r:id="rId8"/>
          </p:cNvPr>
          <p:cNvSpPr/>
          <p:nvPr/>
        </p:nvSpPr>
        <p:spPr>
          <a:xfrm>
            <a:off x="7708392" y="4928616"/>
            <a:ext cx="3493008" cy="310896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View finding detail 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>
            <a:hlinkClick action="ppaction://hlinksldjump" r:id="rId4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44" name="Rounded Rectangle 43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46" name="Rounded Rectangle 45">
            <a:hlinkClick action="ppaction://hlinksldjump" r:id="rId6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47" name="Rounded Rectangle 46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Findings report</a:t>
            </a:r>
          </a:p>
        </p:txBody>
      </p:sp>
      <p:sp>
        <p:nvSpPr>
          <p:cNvPr id="48" name="Rounded Rectangle 47">
            <a:hlinkClick r:id="rId12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Actions chart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Data Trust &amp;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Confidence in the data path, mapping state and publication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05/08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19072"/>
            <a:ext cx="1054303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Every source record is accounted for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340864"/>
            <a:ext cx="2423160" cy="113385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651760"/>
            <a:ext cx="2148840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2000" b="1">
                <a:solidFill>
                  <a:srgbClr val="1E40AF"/>
                </a:solidFill>
                <a:latin typeface="Arial"/>
              </a:rPr>
              <a:t>291 expected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2706624"/>
            <a:ext cx="2560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2340864"/>
            <a:ext cx="2423160" cy="1133856"/>
          </a:xfrm>
          <a:prstGeom prst="roundRect">
            <a:avLst/>
          </a:prstGeom>
          <a:solidFill>
            <a:srgbClr val="E1F9FD"/>
          </a:solidFill>
          <a:ln>
            <a:solidFill>
              <a:srgbClr val="E1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2651760"/>
            <a:ext cx="2148840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2000" b="1">
                <a:solidFill>
                  <a:srgbClr val="0891B2"/>
                </a:solidFill>
                <a:latin typeface="Arial"/>
              </a:rPr>
              <a:t>291 received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2706624"/>
            <a:ext cx="2560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340864"/>
            <a:ext cx="2423160" cy="1133856"/>
          </a:xfrm>
          <a:prstGeom prst="roundRect">
            <a:avLst/>
          </a:prstGeom>
          <a:solidFill>
            <a:srgbClr val="F7ECFF"/>
          </a:solidFill>
          <a:ln>
            <a:solidFill>
              <a:srgbClr val="F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651760"/>
            <a:ext cx="2148840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2000" b="1">
                <a:solidFill>
                  <a:srgbClr val="7E22CE"/>
                </a:solidFill>
                <a:latin typeface="Arial"/>
              </a:rPr>
              <a:t>281 mapped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706624"/>
            <a:ext cx="2560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800" b="1">
                <a:solidFill>
                  <a:srgbClr val="2463EB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23376" y="2340864"/>
            <a:ext cx="2423160" cy="1133856"/>
          </a:xfrm>
          <a:prstGeom prst="roundRect">
            <a:avLst/>
          </a:prstGeom>
          <a:solidFill>
            <a:srgbClr val="E5F9ED"/>
          </a:solidFill>
          <a:ln>
            <a:solidFill>
              <a:srgbClr val="E5F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0536" y="2651760"/>
            <a:ext cx="2148840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rial"/>
              </a:rPr>
              <a:t>253 evaluated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49039"/>
            <a:ext cx="5074920" cy="932688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886200"/>
            <a:ext cx="470916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600" b="1">
                <a:solidFill>
                  <a:srgbClr val="142A4A"/>
                </a:solidFill>
                <a:latin typeface="Arial"/>
              </a:rPr>
              <a:t>10 unmapped source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288536"/>
            <a:ext cx="47091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Received = mapped + unmapped source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749039"/>
            <a:ext cx="5166360" cy="932688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886200"/>
            <a:ext cx="480060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600" b="1">
                <a:solidFill>
                  <a:srgbClr val="142A4A"/>
                </a:solidFill>
                <a:latin typeface="Arial"/>
              </a:rPr>
              <a:t>28 not tested (mapped source records)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88536"/>
            <a:ext cx="48006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Mapped = evaluated + not tested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910328"/>
            <a:ext cx="1054303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>
                <a:solidFill>
                  <a:srgbClr val="142A4A"/>
                </a:solidFill>
                <a:latin typeface="Arial"/>
              </a:rPr>
              <a:t>Separate assurance-test measure: 1 unmapped assurance test. Source-record counts above use a different grain.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449824"/>
            <a:ext cx="10543032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559552"/>
            <a:ext cx="150876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142A4A"/>
                </a:solidFill>
                <a:latin typeface="Arial"/>
              </a:rPr>
              <a:t>Trust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0592" y="5559552"/>
            <a:ext cx="853135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5C6C82"/>
                </a:solidFill>
                <a:latin typeface="Arial"/>
              </a:rPr>
              <a:t>Run IDs, hashes and lineage establish identity. Independent validation and governed population checks establish analytical correctness.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>
            <a:hlinkClick action="ppaction://hlinksldjump" r:id="rId5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40" name="Rounded Rectangle 39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41" name="Rounded Rectangle 40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42" name="Rounded Rectangle 41">
            <a:hlinkClick action="ppaction://hlinksldjump" r:id="rId7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43" name="Rounded Rectangle 42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Data-trust report</a:t>
            </a:r>
          </a:p>
        </p:txBody>
      </p:sp>
      <p:sp>
        <p:nvSpPr>
          <p:cNvPr id="44" name="Rounded Rectangle 43">
            <a:hlinkClick r:id="rId12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Freshness chart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How executive claims trace back to governed evidence and current-run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06/08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00784"/>
            <a:ext cx="10543032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rial"/>
              </a:rPr>
              <a:t>Synthetic sources, one governed analytical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258568"/>
            <a:ext cx="2423160" cy="135331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395728"/>
            <a:ext cx="2167128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142A4A"/>
                </a:solidFill>
                <a:latin typeface="Arial"/>
              </a:rPr>
              <a:t>SQLite / enterprise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71216"/>
            <a:ext cx="2167128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Enterprise identity, risk/control context and mapping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2258568"/>
            <a:ext cx="2423160" cy="135331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395728"/>
            <a:ext cx="2167128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142A4A"/>
                </a:solidFill>
                <a:latin typeface="Arial"/>
              </a:rPr>
              <a:t>JSON / control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71216"/>
            <a:ext cx="2167128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Control testing and evidence populations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258568"/>
            <a:ext cx="2423160" cy="135331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5" y="2395728"/>
            <a:ext cx="2167128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142A4A"/>
                </a:solidFill>
                <a:latin typeface="Arial"/>
              </a:rPr>
              <a:t>CSV /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5" y="2871216"/>
            <a:ext cx="2167128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Finding status and recurrence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23376" y="2258568"/>
            <a:ext cx="2423160" cy="135331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2395728"/>
            <a:ext cx="2167128" cy="4114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142A4A"/>
                </a:solidFill>
                <a:latin typeface="Arial"/>
              </a:rPr>
              <a:t>CSV / management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871216"/>
            <a:ext cx="2167128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Remediation ownership, target dates and 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840480"/>
            <a:ext cx="3200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1">
                <a:solidFill>
                  <a:srgbClr val="5C6C82"/>
                </a:solidFill>
                <a:latin typeface="Arial"/>
              </a:rPr>
              <a:t>PYTHON-DRIVEN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87952"/>
            <a:ext cx="1054303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rial"/>
              </a:rPr>
              <a:t>Source ingestion → Structural validation → Identity normalization → Population reconciliation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626864"/>
            <a:ext cx="1054303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rial"/>
              </a:rPr>
              <a:t>Governed analytics → Independent metric validation → Shared publication → PowerPoint / HTML / Tableau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02352"/>
            <a:ext cx="105430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1">
                <a:solidFill>
                  <a:srgbClr val="142A4A"/>
                </a:solidFill>
                <a:latin typeface="Arial"/>
              </a:rPr>
              <a:t>Executive claim → published metric/table → independent validation → governed input → source/configuration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486400"/>
            <a:ext cx="10543032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Grain: one test per test ID / period; findings and actions retain their grains.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15000"/>
            <a:ext cx="10543032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Arial"/>
              </a:rPr>
              <a:t>Run identity and hashes establish traceability; metric-contract and scenario checks establish analytical correctness.</a:t>
            </a:r>
          </a:p>
        </p:txBody>
      </p:sp>
      <p:sp>
        <p:nvSpPr>
          <p:cNvPr id="35" name="Rounded Rectangle 34">
            <a:hlinkClick action="ppaction://hlinksldjump" r:id="rId8"/>
          </p:cNvPr>
          <p:cNvSpPr/>
          <p:nvPr/>
        </p:nvSpPr>
        <p:spPr>
          <a:xfrm>
            <a:off x="658368" y="5961888"/>
            <a:ext cx="10543032" cy="310896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Explore current-run evidence 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>
            <a:hlinkClick action="ppaction://hlinksldjump" r:id="rId6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40" name="Rounded Rectangle 39">
            <a:hlinkClick action="ppaction://hlinksldjump" r:id="rId8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41" name="Rounded Rectangle 40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Data-trust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Interactive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Native PowerPoint navigation into the deeper HTML and Tableau analytical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07/08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64208"/>
            <a:ext cx="32004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CHOOSE YOUR DRILL-DOWN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920240"/>
            <a:ext cx="6583680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700" b="1">
                <a:solidFill>
                  <a:srgbClr val="142A4A"/>
                </a:solidFill>
                <a:latin typeface="Arial"/>
              </a:rPr>
              <a:t>Use PowerPoint as the executive navigation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31720"/>
            <a:ext cx="804672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00" b="0">
                <a:solidFill>
                  <a:srgbClr val="5C6C82"/>
                </a:solidFill>
                <a:latin typeface="Arial"/>
              </a:rPr>
              <a:t>Click a tile to move within the deck, or open the richer browser/Tableau channels for filtering and record-level exploration.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658368" y="2871216"/>
            <a:ext cx="3255264" cy="969264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008376"/>
            <a:ext cx="384048" cy="25603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999232"/>
            <a:ext cx="23317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Evidence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319272"/>
            <a:ext cx="2331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50" b="0">
                <a:solidFill>
                  <a:srgbClr val="5C6C82"/>
                </a:solidFill>
                <a:latin typeface="Arial"/>
              </a:rPr>
              <a:t>Evidence sufficiency, freshness and confidence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4187952" y="2871216"/>
            <a:ext cx="3255264" cy="969264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3008376"/>
            <a:ext cx="384048" cy="25603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2999232"/>
            <a:ext cx="23317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Risk &amp;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319272"/>
            <a:ext cx="2331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50" b="0">
                <a:solidFill>
                  <a:srgbClr val="5C6C82"/>
                </a:solidFill>
                <a:latin typeface="Arial"/>
              </a:rPr>
              <a:t>Domain pressure and residual-risk visibility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7717536" y="2871216"/>
            <a:ext cx="3255264" cy="969264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0" y="3008376"/>
            <a:ext cx="384048" cy="25603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2999232"/>
            <a:ext cx="23317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3319272"/>
            <a:ext cx="2331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50" b="0">
                <a:solidFill>
                  <a:srgbClr val="5C6C82"/>
                </a:solidFill>
                <a:latin typeface="Arial"/>
              </a:rPr>
              <a:t>Open, repeat and overdue remediation signals</a:t>
            </a:r>
          </a:p>
        </p:txBody>
      </p:sp>
      <p:sp>
        <p:nvSpPr>
          <p:cNvPr id="31" name="Rounded Rectangle 30">
            <a:hlinkClick action="ppaction://hlinksldjump" r:id="rId6"/>
          </p:cNvPr>
          <p:cNvSpPr/>
          <p:nvPr/>
        </p:nvSpPr>
        <p:spPr>
          <a:xfrm>
            <a:off x="658368" y="4078224"/>
            <a:ext cx="3255264" cy="969264"/>
          </a:xfrm>
          <a:prstGeom prst="roundRect">
            <a:avLst/>
          </a:prstGeom>
          <a:solidFill>
            <a:srgbClr val="E5F9ED"/>
          </a:solidFill>
          <a:ln>
            <a:solidFill>
              <a:srgbClr val="E5F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4215384"/>
            <a:ext cx="384048" cy="25603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206240"/>
            <a:ext cx="23317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Data 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26280"/>
            <a:ext cx="2331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50" b="0">
                <a:solidFill>
                  <a:srgbClr val="5C6C82"/>
                </a:solidFill>
                <a:latin typeface="Arial"/>
              </a:rPr>
              <a:t>Lineage, validation and current-run identity</a:t>
            </a:r>
          </a:p>
        </p:txBody>
      </p:sp>
      <p:sp>
        <p:nvSpPr>
          <p:cNvPr id="35" name="Rounded Rectangle 34">
            <a:hlinkClick action="ppaction://hlinksldjump" r:id="rId7"/>
          </p:cNvPr>
          <p:cNvSpPr/>
          <p:nvPr/>
        </p:nvSpPr>
        <p:spPr>
          <a:xfrm>
            <a:off x="4187952" y="4078224"/>
            <a:ext cx="3255264" cy="969264"/>
          </a:xfrm>
          <a:prstGeom prst="roundRect">
            <a:avLst/>
          </a:prstGeom>
          <a:solidFill>
            <a:srgbClr val="F7ECFF"/>
          </a:solidFill>
          <a:ln>
            <a:solidFill>
              <a:srgbClr val="F7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34256" y="4215384"/>
            <a:ext cx="384048" cy="256032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4206240"/>
            <a:ext cx="23317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4526280"/>
            <a:ext cx="2331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50" b="0">
                <a:solidFill>
                  <a:srgbClr val="5C6C82"/>
                </a:solidFill>
                <a:latin typeface="Arial"/>
              </a:rPr>
              <a:t>Claim-to-source evidence chain</a:t>
            </a:r>
          </a:p>
        </p:txBody>
      </p:sp>
      <p:sp>
        <p:nvSpPr>
          <p:cNvPr id="39" name="Rounded Rectangle 38">
            <a:hlinkClick action="ppaction://hlinksldjump" r:id="rId9"/>
          </p:cNvPr>
          <p:cNvSpPr/>
          <p:nvPr/>
        </p:nvSpPr>
        <p:spPr>
          <a:xfrm>
            <a:off x="7717536" y="4078224"/>
            <a:ext cx="3255264" cy="969264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63840" y="4215384"/>
            <a:ext cx="384048" cy="256032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5" y="4206240"/>
            <a:ext cx="233172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Methods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5" y="4526280"/>
            <a:ext cx="233172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750" b="0">
                <a:solidFill>
                  <a:srgbClr val="5C6C82"/>
                </a:solidFill>
                <a:latin typeface="Arial"/>
              </a:rPr>
              <a:t>Scope, limitations and next steps</a:t>
            </a:r>
          </a:p>
        </p:txBody>
      </p:sp>
      <p:sp>
        <p:nvSpPr>
          <p:cNvPr id="43" name="Rounded Rectangle 42">
            <a:hlinkClick r:id="rId10"/>
          </p:cNvPr>
          <p:cNvSpPr/>
          <p:nvPr/>
        </p:nvSpPr>
        <p:spPr>
          <a:xfrm>
            <a:off x="658368" y="5431536"/>
            <a:ext cx="5093208" cy="310896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Open interactive HTML dashboard ↗</a:t>
            </a:r>
          </a:p>
        </p:txBody>
      </p:sp>
      <p:sp>
        <p:nvSpPr>
          <p:cNvPr id="44" name="Rounded Rectangle 43">
            <a:hlinkClick r:id="rId11"/>
          </p:cNvPr>
          <p:cNvSpPr/>
          <p:nvPr/>
        </p:nvSpPr>
        <p:spPr>
          <a:xfrm>
            <a:off x="6117336" y="5431536"/>
            <a:ext cx="5084064" cy="310896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Open Tableau package 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>
            <a:hlinkClick action="ppaction://hlinksldjump" r:id="rId7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48" name="Rounded Rectangle 47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49" name="Rounded Rectangle 48">
            <a:hlinkClick action="ppaction://hlinksldjump" r:id="rId9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50" name="Rounded Rectangle 49">
            <a:hlinkClick r:id="rId10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Open HTML</a:t>
            </a:r>
          </a:p>
        </p:txBody>
      </p:sp>
      <p:sp>
        <p:nvSpPr>
          <p:cNvPr id="51" name="Rounded Rectangle 50">
            <a:hlinkClick r:id="rId11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Open Tableau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7955279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300" b="1">
                <a:solidFill>
                  <a:srgbClr val="142A4A"/>
                </a:solidFill>
                <a:latin typeface="Arial"/>
              </a:rPr>
              <a:t>Methodology,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905256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950" b="0">
                <a:solidFill>
                  <a:srgbClr val="5C6C82"/>
                </a:solidFill>
                <a:latin typeface="Arial"/>
              </a:rPr>
              <a:t>Scope, validation boundaries, limitations and recommended next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338328"/>
            <a:ext cx="1417320" cy="256032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AS OF 2026-09-30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338328"/>
            <a:ext cx="713232" cy="256032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08/08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10835640" cy="22860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786384"/>
            <a:ext cx="29718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730" b="0">
                <a:solidFill>
                  <a:srgbClr val="5C6C82"/>
                </a:solidFill>
                <a:latin typeface="Arial"/>
              </a:rPr>
              <a:t>Run 20261005T170737325190Z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4008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Snapshot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97510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Evidence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310128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Risk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645152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5980176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Trust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7315200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Trace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8650224" y="1179576"/>
            <a:ext cx="129844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5C6C82"/>
                </a:solidFill>
                <a:latin typeface="Arial"/>
              </a:rPr>
              <a:t>Explore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9985247" y="1179576"/>
            <a:ext cx="1298448" cy="274320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664208"/>
            <a:ext cx="25603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00" b="1">
                <a:solidFill>
                  <a:srgbClr val="5C6C82"/>
                </a:solidFill>
                <a:latin typeface="Arial"/>
              </a:rPr>
              <a:t>METHOD &amp; ACCEPTANCE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993392"/>
            <a:ext cx="22402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1993392"/>
            <a:ext cx="50292" cy="932688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103120"/>
            <a:ext cx="1947672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50" b="1">
                <a:solidFill>
                  <a:srgbClr val="142A4A"/>
                </a:solidFill>
                <a:latin typeface="Arial"/>
              </a:rPr>
              <a:t>20261005T170737325190Z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2542032"/>
            <a:ext cx="1947672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Publication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67919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2463EB"/>
                </a:solidFill>
                <a:latin typeface="Arial"/>
              </a:rPr>
              <a:t>VIEW 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45536" y="1993392"/>
            <a:ext cx="22402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45536" y="1993392"/>
            <a:ext cx="50292" cy="932688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103120"/>
            <a:ext cx="1947672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2026-09-v1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2542032"/>
            <a:ext cx="1947672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267919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7E22CE"/>
                </a:solidFill>
                <a:latin typeface="Arial"/>
              </a:rPr>
              <a:t>VIEW 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090672"/>
            <a:ext cx="22402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3090672"/>
            <a:ext cx="50292" cy="93268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200400"/>
            <a:ext cx="1947672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639312"/>
            <a:ext cx="1947672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Metric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377647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16A34A"/>
                </a:solidFill>
                <a:latin typeface="Arial"/>
              </a:rPr>
              <a:t>VIEW 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45536" y="3090672"/>
            <a:ext cx="22402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145536" y="3090672"/>
            <a:ext cx="50292" cy="93268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200400"/>
            <a:ext cx="1947672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2100" b="1">
                <a:solidFill>
                  <a:srgbClr val="142A4A"/>
                </a:solidFill>
                <a:latin typeface="Arial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3639312"/>
            <a:ext cx="1947672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850" b="0">
                <a:solidFill>
                  <a:srgbClr val="5C6C82"/>
                </a:solidFill>
                <a:latin typeface="Arial"/>
              </a:rPr>
              <a:t>Publication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3776472"/>
            <a:ext cx="45720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/>
            <a:r>
              <a:rPr sz="650" b="1">
                <a:solidFill>
                  <a:srgbClr val="16A34A"/>
                </a:solidFill>
                <a:latin typeface="Arial"/>
              </a:rPr>
              <a:t>VIEW 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1874519"/>
            <a:ext cx="5394960" cy="91440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71032" y="1984248"/>
            <a:ext cx="5065776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rial"/>
              </a:rPr>
              <a:t>Priority 1 — Restore decision confidence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2" y="2313432"/>
            <a:ext cx="506577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Refresh the 2 stale-evidence cases and resolve the 1 evidence-not-evaluable case.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06440" y="2907791"/>
            <a:ext cx="5394960" cy="914400"/>
          </a:xfrm>
          <a:prstGeom prst="roundRect">
            <a:avLst/>
          </a:prstGeom>
          <a:solidFill>
            <a:srgbClr val="FFEAEA"/>
          </a:solidFill>
          <a:ln>
            <a:solidFill>
              <a:srgbClr val="FF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71032" y="3017520"/>
            <a:ext cx="5065776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rial"/>
              </a:rPr>
              <a:t>Priority 2 — Close risk uncertainty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71032" y="3346703"/>
            <a:ext cx="506577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Resolve the 4 residual-risk conclusions that remain not evaluable, starting with areas already carrying high/critical risk.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3941063"/>
            <a:ext cx="5394960" cy="914400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4050791"/>
            <a:ext cx="5065776" cy="2651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rial"/>
              </a:rPr>
              <a:t>Priority 3 — Close operational exceptions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1032" y="4379975"/>
            <a:ext cx="506577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192334"/>
                </a:solidFill>
                <a:latin typeface="Arial"/>
              </a:rPr>
              <a:t>Address the 1 overdue management action and monitor the 1 unmapped assurance test explicitly.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334256"/>
            <a:ext cx="4727448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000" b="0">
                <a:solidFill>
                  <a:srgbClr val="5C6C82"/>
                </a:solidFill>
                <a:latin typeface="Arial"/>
              </a:rPr>
              <a:t>Governed publication inputs preserve KPI definitions. Native slide navigation links to HTML/Tableau for interactive filtering.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797296"/>
            <a:ext cx="1054303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C82"/>
                </a:solidFill>
                <a:latin typeface="Arial"/>
              </a:rPr>
              <a:t>Illustrative synthetic enterprise-assurance dataset and methodology; not Experian internal data or methodology.</a:t>
            </a:r>
          </a:p>
        </p:txBody>
      </p:sp>
      <p:sp>
        <p:nvSpPr>
          <p:cNvPr id="48" name="Rounded Rectangle 47">
            <a:hlinkClick action="ppaction://hlinksldjump" r:id="rId2"/>
          </p:cNvPr>
          <p:cNvSpPr/>
          <p:nvPr/>
        </p:nvSpPr>
        <p:spPr>
          <a:xfrm>
            <a:off x="658368" y="5230368"/>
            <a:ext cx="2240280" cy="310896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Back to executive snapshot</a:t>
            </a:r>
          </a:p>
        </p:txBody>
      </p:sp>
      <p:sp>
        <p:nvSpPr>
          <p:cNvPr id="49" name="Rounded Rectangle 48">
            <a:hlinkClick action="ppaction://hlinksldjump" r:id="rId8"/>
          </p:cNvPr>
          <p:cNvSpPr/>
          <p:nvPr/>
        </p:nvSpPr>
        <p:spPr>
          <a:xfrm>
            <a:off x="3145536" y="5230368"/>
            <a:ext cx="23317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Open interactive 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6318504"/>
            <a:ext cx="10863072" cy="16459"/>
          </a:xfrm>
          <a:prstGeom prst="rect">
            <a:avLst/>
          </a:prstGeom>
          <a:solidFill>
            <a:srgbClr val="D6DEE9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>
            <a:hlinkClick action="ppaction://hlinksldjump" r:id="rId8"/>
          </p:cNvPr>
          <p:cNvSpPr/>
          <p:nvPr/>
        </p:nvSpPr>
        <p:spPr>
          <a:xfrm>
            <a:off x="640080" y="6409944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◀ Previous</a:t>
            </a:r>
          </a:p>
        </p:txBody>
      </p:sp>
      <p:sp>
        <p:nvSpPr>
          <p:cNvPr id="52" name="Rounded Rectangle 51">
            <a:hlinkClick action="ppaction://hlinksldjump" r:id="rId2"/>
          </p:cNvPr>
          <p:cNvSpPr/>
          <p:nvPr/>
        </p:nvSpPr>
        <p:spPr>
          <a:xfrm>
            <a:off x="1700784" y="6409944"/>
            <a:ext cx="6400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Home</a:t>
            </a:r>
          </a:p>
        </p:txBody>
      </p:sp>
      <p:sp>
        <p:nvSpPr>
          <p:cNvPr id="53" name="Rounded Rectangle 52">
            <a:hlinkClick action="ppaction://hlinksldjump" r:id="rId8"/>
          </p:cNvPr>
          <p:cNvSpPr/>
          <p:nvPr/>
        </p:nvSpPr>
        <p:spPr>
          <a:xfrm>
            <a:off x="2441448" y="6409944"/>
            <a:ext cx="7772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Explore</a:t>
            </a:r>
          </a:p>
        </p:txBody>
      </p:sp>
      <p:sp>
        <p:nvSpPr>
          <p:cNvPr id="54" name="Rounded Rectangle 53">
            <a:hlinkClick action="ppaction://hlinksldjump" r:id="rId9"/>
          </p:cNvPr>
          <p:cNvSpPr/>
          <p:nvPr/>
        </p:nvSpPr>
        <p:spPr>
          <a:xfrm>
            <a:off x="3319272" y="6409944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6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42A4A"/>
                </a:solidFill>
                <a:latin typeface="Arial"/>
              </a:rPr>
              <a:t>Next ▶</a:t>
            </a:r>
          </a:p>
        </p:txBody>
      </p:sp>
      <p:sp>
        <p:nvSpPr>
          <p:cNvPr id="55" name="Rounded Rectangle 54">
            <a:hlinkClick r:id="rId11"/>
          </p:cNvPr>
          <p:cNvSpPr/>
          <p:nvPr/>
        </p:nvSpPr>
        <p:spPr>
          <a:xfrm>
            <a:off x="790956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Open HTML</a:t>
            </a:r>
          </a:p>
        </p:txBody>
      </p:sp>
      <p:sp>
        <p:nvSpPr>
          <p:cNvPr id="56" name="Rounded Rectangle 55">
            <a:hlinkClick r:id="rId12"/>
          </p:cNvPr>
          <p:cNvSpPr/>
          <p:nvPr/>
        </p:nvSpPr>
        <p:spPr>
          <a:xfrm>
            <a:off x="9418320" y="6409944"/>
            <a:ext cx="1417320" cy="310896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E40AF"/>
                </a:solidFill>
                <a:latin typeface="Arial"/>
              </a:rPr>
              <a:t>Open Tableau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464808"/>
            <a:ext cx="32461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680" b="0">
                <a:solidFill>
                  <a:srgbClr val="5C6C82"/>
                </a:solidFill>
                <a:latin typeface="Arial"/>
              </a:rPr>
              <a:t>Validated publication • 2026-09-v1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